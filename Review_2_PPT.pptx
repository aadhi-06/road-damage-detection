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69" r:id="rId2"/>
    <p:sldId id="263" r:id="rId3"/>
    <p:sldId id="257" r:id="rId4"/>
    <p:sldId id="258" r:id="rId5"/>
    <p:sldId id="270" r:id="rId6"/>
    <p:sldId id="271" r:id="rId7"/>
    <p:sldId id="260" r:id="rId8"/>
    <p:sldId id="272" r:id="rId9"/>
    <p:sldId id="273" r:id="rId10"/>
    <p:sldId id="264" r:id="rId11"/>
    <p:sldId id="265" r:id="rId12"/>
    <p:sldId id="266" r:id="rId13"/>
    <p:sldId id="267" r:id="rId14"/>
    <p:sldId id="268"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4" d="100"/>
          <a:sy n="54" d="100"/>
        </p:scale>
        <p:origin x="56" y="1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hape 118"/>
          <p:cNvSpPr>
            <a:spLocks noGrp="1" noRot="1" noChangeAspect="1"/>
          </p:cNvSpPr>
          <p:nvPr>
            <p:ph type="sldImg"/>
          </p:nvPr>
        </p:nvSpPr>
        <p:spPr>
          <a:xfrm>
            <a:off x="381000" y="685800"/>
            <a:ext cx="6096000" cy="3429000"/>
          </a:xfrm>
          <a:prstGeom prst="rect">
            <a:avLst/>
          </a:prstGeom>
        </p:spPr>
        <p:txBody>
          <a:bodyPr/>
          <a:lstStyle/>
          <a:p>
            <a:endParaRPr/>
          </a:p>
        </p:txBody>
      </p:sp>
      <p:sp>
        <p:nvSpPr>
          <p:cNvPr id="119" name="Shape 119"/>
          <p:cNvSpPr>
            <a:spLocks noGrp="1"/>
          </p:cNvSpPr>
          <p:nvPr>
            <p:ph type="body" sz="quarter" idx="1"/>
          </p:nvPr>
        </p:nvSpPr>
        <p:spPr>
          <a:prstGeom prst="rect">
            <a:avLst/>
          </a:prstGeom>
        </p:spPr>
        <p:txBody>
          <a:bodyPr/>
          <a:lstStyle/>
          <a:p>
            <a:r>
              <a:t>Papers 1-4: interpretable cardiac monitoring.</a:t>
            </a:r>
          </a:p>
          <a:p>
            <a:endParaRPr/>
          </a:p>
          <a:p>
            <a:r>
              <a:t>Numbers worth knowing: CLARITY-AI 8.1 ms / 350 KB / F1 0.928. xECGArch F1 95.43%. EXGnet 98.76%.</a:t>
            </a:r>
          </a:p>
          <a:p>
            <a:endParaRPr/>
          </a:p>
          <a:p>
            <a:r>
              <a:t>Paper 3 matters most for us practically: it derives its explanation regions automatically from heart-rate variability, so it needs no clinician to mark up training data. We have no annotators, so that is the approach we can actually copy.</a:t>
            </a:r>
          </a:p>
          <a:p>
            <a:endParaRPr/>
          </a:p>
          <a:p>
            <a:r>
              <a:t>Paper 4's prototypes are worth flagging - a prototype is stored per patient, which fits our personalisation design naturally.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381000" y="685800"/>
            <a:ext cx="6096000" cy="3429000"/>
          </a:xfrm>
          <a:prstGeom prst="rect">
            <a:avLst/>
          </a:prstGeom>
        </p:spPr>
        <p:txBody>
          <a:bodyPr/>
          <a:lstStyle/>
          <a:p>
            <a:endParaRPr/>
          </a:p>
        </p:txBody>
      </p:sp>
      <p:sp>
        <p:nvSpPr>
          <p:cNvPr id="126" name="Shape 126"/>
          <p:cNvSpPr>
            <a:spLocks noGrp="1"/>
          </p:cNvSpPr>
          <p:nvPr>
            <p:ph type="body" sz="quarter" idx="1"/>
          </p:nvPr>
        </p:nvSpPr>
        <p:spPr>
          <a:prstGeom prst="rect">
            <a:avLst/>
          </a:prstGeom>
        </p:spPr>
        <p:txBody>
          <a:bodyPr/>
          <a:lstStyle/>
          <a:p>
            <a:r>
              <a:t>Papers 5-8: the same ideas on brain and other signals.</a:t>
            </a:r>
          </a:p>
          <a:p>
            <a:endParaRPr/>
          </a:p>
          <a:p>
            <a:r>
              <a:t>Paper 5 is our transfer evidence: a design built for ECG worked on EEG with no accuracy loss. That is why we can monitor both channels with one approach.</a:t>
            </a:r>
          </a:p>
          <a:p>
            <a:endParaRPr/>
          </a:p>
          <a:p>
            <a:r>
              <a:t>Paper 6 has a per-patient variant - point to it when asked whether personalisation is established.</a:t>
            </a:r>
          </a:p>
          <a:p>
            <a:endParaRPr/>
          </a:p>
          <a:p>
            <a:r>
              <a:t>Paper 8 sets honest expectations for Grad-CAM: roughly right region, too coarse for fine reasoning.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noRot="1" noChangeAspect="1"/>
          </p:cNvSpPr>
          <p:nvPr>
            <p:ph type="sldImg"/>
          </p:nvPr>
        </p:nvSpPr>
        <p:spPr>
          <a:xfrm>
            <a:off x="381000" y="685800"/>
            <a:ext cx="6096000" cy="3429000"/>
          </a:xfrm>
          <a:prstGeom prst="rect">
            <a:avLst/>
          </a:prstGeom>
        </p:spPr>
        <p:txBody>
          <a:bodyPr/>
          <a:lstStyle/>
          <a:p>
            <a:endParaRPr/>
          </a:p>
        </p:txBody>
      </p:sp>
      <p:sp>
        <p:nvSpPr>
          <p:cNvPr id="156" name="Shape 156"/>
          <p:cNvSpPr>
            <a:spLocks noGrp="1"/>
          </p:cNvSpPr>
          <p:nvPr>
            <p:ph type="body" sz="quarter" idx="1"/>
          </p:nvPr>
        </p:nvSpPr>
        <p:spPr>
          <a:prstGeom prst="rect">
            <a:avLst/>
          </a:prstGeom>
        </p:spPr>
        <p:txBody>
          <a:bodyPr/>
          <a:lstStyle/>
          <a:p>
            <a:r>
              <a:t>Five objectives, each testable.</a:t>
            </a:r>
          </a:p>
          <a:p>
            <a:endParaRPr/>
          </a:p>
          <a:p>
            <a:r>
              <a:t>Objective 3 is the one that carries the paper. It commits you to reporting the forgetting rate even if the result is unflattering. Panels respect that.</a:t>
            </a:r>
          </a:p>
          <a:p>
            <a:endParaRPr/>
          </a:p>
          <a:p>
            <a:r>
              <a:t>Objective 5 is why the explanation papers are in the review - if asked, this is the link.</a:t>
            </a:r>
          </a:p>
          <a:p>
            <a:endParaRPr/>
          </a:p>
          <a:p>
            <a:r>
              <a:t>SDG boxes below: SDG 3 (Good Health and Well-being) primary; SDG 10 (Reduced Inequalities) fits the accessibility angle.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02-09-2026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02-09-2026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02-09-2026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02-09-2026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02-09-2026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02-09-2026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02-09-2026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02-09-2026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02-09-2026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02-09-2026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02-09-2026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02-09-2026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Picture 4"/>
          <p:cNvPicPr>
            <a:picLocks noChangeAspect="1"/>
          </p:cNvPicPr>
          <p:nvPr/>
        </p:nvPicPr>
        <p:blipFill>
          <a:blip r:embed="rId2"/>
          <a:stretch>
            <a:fillRect/>
          </a:stretch>
        </p:blipFill>
        <p:spPr>
          <a:xfrm>
            <a:off x="3837235" y="-11494"/>
            <a:ext cx="4517530" cy="1871636"/>
          </a:xfrm>
          <a:prstGeom prst="rect">
            <a:avLst/>
          </a:prstGeom>
          <a:ln w="12700">
            <a:miter lim="400000"/>
          </a:ln>
        </p:spPr>
      </p:pic>
      <p:sp>
        <p:nvSpPr>
          <p:cNvPr id="95" name="Title 6"/>
          <p:cNvSpPr txBox="1">
            <a:spLocks noGrp="1"/>
          </p:cNvSpPr>
          <p:nvPr>
            <p:ph type="ctrTitle"/>
          </p:nvPr>
        </p:nvSpPr>
        <p:spPr>
          <a:xfrm>
            <a:off x="1633727" y="2009851"/>
            <a:ext cx="8924544" cy="1508145"/>
          </a:xfrm>
          <a:prstGeom prst="rect">
            <a:avLst/>
          </a:prstGeom>
        </p:spPr>
        <p:txBody>
          <a:bodyPr>
            <a:normAutofit fontScale="90000"/>
          </a:bodyPr>
          <a:lstStyle/>
          <a:p>
            <a:pPr defTabSz="649223">
              <a:defRPr sz="1420" b="1">
                <a:latin typeface="Times New Roman"/>
                <a:ea typeface="Times New Roman"/>
                <a:cs typeface="Times New Roman"/>
                <a:sym typeface="Times New Roman"/>
              </a:defRPr>
            </a:pPr>
            <a:r>
              <a:rPr dirty="0" err="1"/>
              <a:t>Programme</a:t>
            </a:r>
            <a:r>
              <a:rPr dirty="0"/>
              <a:t> </a:t>
            </a:r>
            <a:r>
              <a:rPr dirty="0" err="1"/>
              <a:t>B.Tech</a:t>
            </a:r>
            <a:br>
              <a:rPr dirty="0"/>
            </a:br>
            <a:r>
              <a:rPr dirty="0"/>
              <a:t>Course Code – </a:t>
            </a:r>
            <a:r>
              <a:rPr lang="en-IN" sz="1420" dirty="0">
                <a:sym typeface="Times New Roman"/>
              </a:rPr>
              <a:t>BCSE497J </a:t>
            </a:r>
            <a:br>
              <a:rPr lang="en-IN" sz="1420" dirty="0">
                <a:sym typeface="Times New Roman"/>
              </a:rPr>
            </a:br>
            <a:br>
              <a:rPr dirty="0"/>
            </a:br>
            <a:r>
              <a:rPr sz="3100" dirty="0"/>
              <a:t>Adaptive Per-Patient Gesture and Gaze Control with Continuous Cardiac and Neural Monitoring</a:t>
            </a:r>
            <a:endParaRPr sz="2272" dirty="0"/>
          </a:p>
        </p:txBody>
      </p:sp>
      <p:sp>
        <p:nvSpPr>
          <p:cNvPr id="96" name="object 3"/>
          <p:cNvSpPr txBox="1"/>
          <p:nvPr/>
        </p:nvSpPr>
        <p:spPr>
          <a:xfrm>
            <a:off x="3722003" y="4030868"/>
            <a:ext cx="4747993" cy="24442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a:spcBef>
                <a:spcPts val="200"/>
              </a:spcBef>
              <a:defRPr>
                <a:latin typeface="Times New Roman"/>
                <a:ea typeface="Times New Roman"/>
                <a:cs typeface="Times New Roman"/>
                <a:sym typeface="Times New Roman"/>
              </a:defRPr>
            </a:pPr>
            <a:endParaRPr dirty="0"/>
          </a:p>
          <a:p>
            <a:pPr indent="12700" algn="ctr">
              <a:defRPr sz="2000" spc="-19">
                <a:latin typeface="Times New Roman"/>
                <a:ea typeface="Times New Roman"/>
                <a:cs typeface="Times New Roman"/>
                <a:sym typeface="Times New Roman"/>
              </a:defRPr>
            </a:pPr>
            <a:r>
              <a:rPr dirty="0"/>
              <a:t>Team</a:t>
            </a:r>
            <a:r>
              <a:rPr spc="-79" dirty="0"/>
              <a:t> </a:t>
            </a:r>
            <a:r>
              <a:rPr spc="-9" dirty="0"/>
              <a:t>members:</a:t>
            </a:r>
          </a:p>
          <a:p>
            <a:pPr marL="12700" algn="ctr">
              <a:buSzPct val="100000"/>
              <a:tabLst>
                <a:tab pos="139700" algn="l"/>
              </a:tabLst>
              <a:defRPr sz="2000" b="1">
                <a:latin typeface="Times New Roman"/>
                <a:ea typeface="Times New Roman"/>
                <a:cs typeface="Times New Roman"/>
                <a:sym typeface="Times New Roman"/>
              </a:defRPr>
            </a:pPr>
            <a:r>
              <a:rPr lang="en-IN" dirty="0"/>
              <a:t>Adithiya S R</a:t>
            </a:r>
            <a:r>
              <a:rPr dirty="0"/>
              <a:t>		  (</a:t>
            </a:r>
            <a:r>
              <a:rPr lang="en-IN" dirty="0"/>
              <a:t>23BDS0045</a:t>
            </a:r>
            <a:r>
              <a:rPr dirty="0"/>
              <a:t>)</a:t>
            </a:r>
          </a:p>
          <a:p>
            <a:pPr marL="12700" algn="ctr">
              <a:buSzPct val="100000"/>
              <a:tabLst>
                <a:tab pos="139700" algn="l"/>
              </a:tabLst>
              <a:defRPr sz="2000" b="1">
                <a:latin typeface="Times New Roman"/>
                <a:ea typeface="Times New Roman"/>
                <a:cs typeface="Times New Roman"/>
                <a:sym typeface="Times New Roman"/>
              </a:defRPr>
            </a:pPr>
            <a:r>
              <a:rPr lang="en-IN" dirty="0"/>
              <a:t>Raaj Akshit R</a:t>
            </a:r>
            <a:r>
              <a:rPr dirty="0"/>
              <a:t>		  (</a:t>
            </a:r>
            <a:r>
              <a:rPr lang="en-IN" dirty="0"/>
              <a:t>23BCE2136</a:t>
            </a:r>
            <a:r>
              <a:rPr dirty="0"/>
              <a:t>)</a:t>
            </a:r>
            <a:endParaRPr lang="en-IN" dirty="0"/>
          </a:p>
          <a:p>
            <a:pPr marL="12700" algn="ctr">
              <a:buSzPct val="100000"/>
              <a:tabLst>
                <a:tab pos="139700" algn="l"/>
              </a:tabLst>
              <a:defRPr sz="2000" b="1">
                <a:latin typeface="Times New Roman"/>
                <a:ea typeface="Times New Roman"/>
                <a:cs typeface="Times New Roman"/>
                <a:sym typeface="Times New Roman"/>
              </a:defRPr>
            </a:pPr>
            <a:r>
              <a:rPr lang="en-IN" dirty="0"/>
              <a:t>Aadhithya A		  (23BAI0048)</a:t>
            </a:r>
            <a:endParaRPr dirty="0"/>
          </a:p>
          <a:p>
            <a:pPr marL="149225" indent="-136525" algn="ctr">
              <a:buSzPct val="100000"/>
              <a:buFont typeface="Times New Roman"/>
              <a:buChar char="•"/>
              <a:tabLst>
                <a:tab pos="139700" algn="l"/>
              </a:tabLst>
              <a:defRPr sz="2000" b="1">
                <a:latin typeface="Times New Roman"/>
                <a:ea typeface="Times New Roman"/>
                <a:cs typeface="Times New Roman"/>
                <a:sym typeface="Times New Roman"/>
              </a:defRPr>
            </a:pPr>
            <a:endParaRPr dirty="0"/>
          </a:p>
          <a:p>
            <a:pPr indent="12700" algn="ctr">
              <a:spcBef>
                <a:spcPts val="100"/>
              </a:spcBef>
              <a:defRPr sz="2000">
                <a:latin typeface="Times New Roman"/>
                <a:ea typeface="Times New Roman"/>
                <a:cs typeface="Times New Roman"/>
                <a:sym typeface="Times New Roman"/>
              </a:defRPr>
            </a:pPr>
            <a:r>
              <a:rPr dirty="0"/>
              <a:t>Faculty</a:t>
            </a:r>
            <a:r>
              <a:rPr spc="-60" dirty="0"/>
              <a:t> </a:t>
            </a:r>
            <a:r>
              <a:rPr dirty="0"/>
              <a:t>guide</a:t>
            </a:r>
            <a:r>
              <a:rPr spc="-55" dirty="0"/>
              <a:t> </a:t>
            </a:r>
            <a:r>
              <a:rPr spc="-50" dirty="0"/>
              <a:t>:</a:t>
            </a:r>
          </a:p>
          <a:p>
            <a:pPr indent="12700" algn="ctr">
              <a:defRPr sz="2000" b="1">
                <a:latin typeface="Times New Roman"/>
                <a:ea typeface="Times New Roman"/>
                <a:cs typeface="Times New Roman"/>
                <a:sym typeface="Times New Roman"/>
              </a:defRPr>
            </a:pPr>
            <a:r>
              <a:rPr lang="en-IN" sz="2000" dirty="0">
                <a:sym typeface="Times New Roman"/>
              </a:rPr>
              <a:t>GUNAVATHI C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id="{8233367C-DAD6-6E34-D21A-A981C09442F2}"/>
              </a:ext>
            </a:extLst>
          </p:cNvPr>
          <p:cNvSpPr>
            <a:spLocks noGrp="1"/>
          </p:cNvSpPr>
          <p:nvPr>
            <p:ph idx="1"/>
          </p:nvPr>
        </p:nvSpPr>
        <p:spPr/>
        <p:txBody>
          <a:bodyPr/>
          <a:lstStyle/>
          <a:p>
            <a:r>
              <a:rPr lang="en-IN" i="1" dirty="0"/>
              <a:t>Get the approval for the following points from your guide through mail before  01-09-2026.(sample attached below)</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fld id="{FEA886FF-1BA7-4533-94E6-869CE1E2970B}" type="datetime1">
              <a:rPr lang="en-IN" smtClean="0"/>
              <a:t>02-09-2026</a:t>
            </a:fld>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10" name="Picture 9">
            <a:extLst>
              <a:ext uri="{FF2B5EF4-FFF2-40B4-BE49-F238E27FC236}">
                <a16:creationId xmlns:a16="http://schemas.microsoft.com/office/drawing/2014/main" id="{8CFF88D1-7A15-E122-39FA-9C7DA1DFCDF4}"/>
              </a:ext>
            </a:extLst>
          </p:cNvPr>
          <p:cNvPicPr>
            <a:picLocks noChangeAspect="1"/>
          </p:cNvPicPr>
          <p:nvPr/>
        </p:nvPicPr>
        <p:blipFill>
          <a:blip r:embed="rId2"/>
          <a:stretch>
            <a:fillRect/>
          </a:stretch>
        </p:blipFill>
        <p:spPr>
          <a:xfrm>
            <a:off x="673866" y="2653482"/>
            <a:ext cx="11381493" cy="3296214"/>
          </a:xfrm>
          <a:prstGeom prst="rect">
            <a:avLst/>
          </a:prstGeom>
        </p:spPr>
      </p:pic>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To build a hands-free assistive system that lets bedridden patients control their environment through hand gestures and eye gaze, where the recognition adapts to each individual patient over time, while cardiac signals are monitored continuously and independently in the background.</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02-09-2026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a:bodyPr>
          <a:lstStyle/>
          <a:p>
            <a:r>
              <a:rPr lang="en-IN" sz="1600" dirty="0">
                <a:latin typeface="Times New Roman" panose="02020603050405020304" pitchFamily="18" charset="0"/>
                <a:cs typeface="Times New Roman" panose="02020603050405020304" pitchFamily="18" charset="0"/>
              </a:rPr>
              <a:t>Bedridden and mobility-limited patients cannot reliably use switches, apps or voice control. This project delivers a working vision-based assistive system in which a webcam drives face authentication, hand-gesture recognition and gaze recognition, and every recognised command must survive a 3-second continuous hold before it executes.</a:t>
            </a:r>
          </a:p>
          <a:p>
            <a:r>
              <a:rPr lang="en-IN" sz="1600" dirty="0">
                <a:latin typeface="Times New Roman" panose="02020603050405020304" pitchFamily="18" charset="0"/>
                <a:cs typeface="Times New Roman" panose="02020603050405020304" pitchFamily="18" charset="0"/>
              </a:rPr>
              <a:t>Validated commands are sent over serial to an ESP32, which drives a fan through an L298N driver, two indicator lights and an emergency buzzer. Gaze dwell generates caregiver requests (water, nurse assistance) that appear on a multi-patient caregiver dashboard alongside live video, device states, patient state and an event log persisted in SQLite.</a:t>
            </a:r>
          </a:p>
          <a:p>
            <a:r>
              <a:rPr lang="en-IN" sz="1600" dirty="0">
                <a:latin typeface="Times New Roman" panose="02020603050405020304" pitchFamily="18" charset="0"/>
                <a:cs typeface="Times New Roman" panose="02020603050405020304" pitchFamily="18" charset="0"/>
              </a:rPr>
              <a:t>An AD8232 ECG pathway runs on its own thread, fully independent of the camera: acquisition, signal-quality assessment and filtering continue even if the vision pipeline fails.</a:t>
            </a:r>
          </a:p>
          <a:p>
            <a:r>
              <a:rPr lang="en-IN" sz="1600" dirty="0">
                <a:latin typeface="Times New Roman" panose="02020603050405020304" pitchFamily="18" charset="0"/>
                <a:cs typeface="Times New Roman" panose="02020603050405020304" pitchFamily="18" charset="0"/>
              </a:rPr>
              <a:t>The system is built so that per-patient continual learning (EWC, replay) can be added on the existing base-model interface without redesign, which is the research contribution to be evaluated next.</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02-09-2026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Footer Placeholder 8"/>
          <p:cNvSpPr txBox="1"/>
          <p:nvPr/>
        </p:nvSpPr>
        <p:spPr>
          <a:xfrm>
            <a:off x="4084320" y="6414760"/>
            <a:ext cx="4023360"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a:solidFill>
                  <a:srgbClr val="888888"/>
                </a:solidFill>
              </a:defRPr>
            </a:lvl1pPr>
          </a:lstStyle>
          <a:p>
            <a:r>
              <a:t>SCOPE</a:t>
            </a:r>
          </a:p>
        </p:txBody>
      </p:sp>
      <p:sp>
        <p:nvSpPr>
          <p:cNvPr id="115" name="Date Placeholder 7"/>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a:solidFill>
                  <a:srgbClr val="888888"/>
                </a:solidFill>
              </a:defRPr>
            </a:lvl1pPr>
          </a:lstStyle>
          <a:p>
            <a:r>
              <a:t>21-07-2026</a:t>
            </a:r>
          </a:p>
        </p:txBody>
      </p:sp>
      <p:sp>
        <p:nvSpPr>
          <p:cNvPr id="116" name="Slide Number Placeholder 9"/>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IN" smtClean="0"/>
              <a:pPr/>
              <a:t>5</a:t>
            </a:fld>
            <a:endParaRPr/>
          </a:p>
        </p:txBody>
      </p:sp>
      <p:graphicFrame>
        <p:nvGraphicFramePr>
          <p:cNvPr id="117" name="Table 10"/>
          <p:cNvGraphicFramePr/>
          <p:nvPr/>
        </p:nvGraphicFramePr>
        <p:xfrm>
          <a:off x="426719" y="1416971"/>
          <a:ext cx="11338560" cy="5031447"/>
        </p:xfrm>
        <a:graphic>
          <a:graphicData uri="http://schemas.openxmlformats.org/drawingml/2006/table">
            <a:tbl>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14311">
                <a:tc>
                  <a:txBody>
                    <a:bodyPr/>
                    <a:lstStyle/>
                    <a:p>
                      <a:pPr algn="l">
                        <a:defRPr sz="1800"/>
                      </a:pPr>
                      <a:r>
                        <a:rPr sz="1600" b="1" dirty="0">
                          <a:solidFill>
                            <a:srgbClr val="FFFFFF"/>
                          </a:solidFill>
                          <a:latin typeface="Times New Roman"/>
                          <a:ea typeface="Times New Roman"/>
                          <a:cs typeface="Times New Roman"/>
                          <a:sym typeface="Times New Roman"/>
                        </a:rPr>
                        <a:t>Paper</a:t>
                      </a:r>
                    </a:p>
                  </a:txBody>
                  <a:tcPr marL="18288" marR="18288" marT="18288" marB="18288" anchor="ctr" horzOverflow="overflow">
                    <a:solidFill>
                      <a:srgbClr val="1F3864"/>
                    </a:solidFill>
                  </a:tcPr>
                </a:tc>
                <a:tc>
                  <a:txBody>
                    <a:bodyPr/>
                    <a:lstStyle/>
                    <a:p>
                      <a:pPr algn="l">
                        <a:defRPr sz="1800"/>
                      </a:pPr>
                      <a:r>
                        <a:rPr sz="1600" b="1">
                          <a:solidFill>
                            <a:srgbClr val="FFFFFF"/>
                          </a:solidFill>
                          <a:latin typeface="Times New Roman"/>
                          <a:ea typeface="Times New Roman"/>
                          <a:cs typeface="Times New Roman"/>
                          <a:sym typeface="Times New Roman"/>
                        </a:rPr>
                        <a:t>Objective</a:t>
                      </a:r>
                    </a:p>
                  </a:txBody>
                  <a:tcPr marL="18288" marR="18288" marT="18288" marB="18288" anchor="ctr" horzOverflow="overflow">
                    <a:solidFill>
                      <a:srgbClr val="1F3864"/>
                    </a:solidFill>
                  </a:tcPr>
                </a:tc>
                <a:tc>
                  <a:txBody>
                    <a:bodyPr/>
                    <a:lstStyle/>
                    <a:p>
                      <a:pPr algn="l">
                        <a:defRPr sz="1800"/>
                      </a:pPr>
                      <a:r>
                        <a:rPr sz="1600" b="1">
                          <a:solidFill>
                            <a:srgbClr val="FFFFFF"/>
                          </a:solidFill>
                          <a:latin typeface="Times New Roman"/>
                          <a:ea typeface="Times New Roman"/>
                          <a:cs typeface="Times New Roman"/>
                          <a:sym typeface="Times New Roman"/>
                        </a:rPr>
                        <a:t>Methodology</a:t>
                      </a:r>
                    </a:p>
                  </a:txBody>
                  <a:tcPr marL="18288" marR="18288" marT="18288" marB="18288" anchor="ctr" horzOverflow="overflow">
                    <a:solidFill>
                      <a:srgbClr val="1F3864"/>
                    </a:solidFill>
                  </a:tcPr>
                </a:tc>
                <a:tc>
                  <a:txBody>
                    <a:bodyPr/>
                    <a:lstStyle/>
                    <a:p>
                      <a:pPr algn="l">
                        <a:defRPr sz="1800"/>
                      </a:pPr>
                      <a:r>
                        <a:rPr sz="1600" b="1">
                          <a:solidFill>
                            <a:srgbClr val="FFFFFF"/>
                          </a:solidFill>
                          <a:latin typeface="Times New Roman"/>
                          <a:ea typeface="Times New Roman"/>
                          <a:cs typeface="Times New Roman"/>
                          <a:sym typeface="Times New Roman"/>
                        </a:rPr>
                        <a:t>Pros / Cons</a:t>
                      </a:r>
                    </a:p>
                  </a:txBody>
                  <a:tcPr marL="18288" marR="18288" marT="18288" marB="18288" anchor="ctr" horzOverflow="overflow">
                    <a:solidFill>
                      <a:srgbClr val="1F3864"/>
                    </a:solidFill>
                  </a:tcPr>
                </a:tc>
                <a:tc>
                  <a:txBody>
                    <a:bodyPr/>
                    <a:lstStyle/>
                    <a:p>
                      <a:pPr algn="l">
                        <a:defRPr sz="1800"/>
                      </a:pPr>
                      <a:r>
                        <a:rPr sz="1600" b="1">
                          <a:solidFill>
                            <a:srgbClr val="FFFFFF"/>
                          </a:solidFill>
                          <a:latin typeface="Times New Roman"/>
                          <a:ea typeface="Times New Roman"/>
                          <a:cs typeface="Times New Roman"/>
                          <a:sym typeface="Times New Roman"/>
                        </a:rPr>
                        <a:t>Findings</a:t>
                      </a:r>
                    </a:p>
                  </a:txBody>
                  <a:tcPr marL="18288" marR="18288" marT="18288" marB="18288" anchor="ctr" horzOverflow="overflow">
                    <a:solidFill>
                      <a:srgbClr val="1F3864"/>
                    </a:solidFill>
                  </a:tcPr>
                </a:tc>
                <a:extLst>
                  <a:ext uri="{0D108BD9-81ED-4DB2-BD59-A6C34878D82A}">
                    <a16:rowId xmlns:a16="http://schemas.microsoft.com/office/drawing/2014/main" val="10000"/>
                  </a:ext>
                </a:extLst>
              </a:tr>
              <a:tr h="1000382">
                <a:tc>
                  <a:txBody>
                    <a:bodyPr/>
                    <a:lstStyle/>
                    <a:p>
                      <a:pPr algn="l">
                        <a:defRPr sz="1800"/>
                      </a:pPr>
                      <a:r>
                        <a:rPr sz="1100" b="1" dirty="0">
                          <a:solidFill>
                            <a:srgbClr val="202020"/>
                          </a:solidFill>
                          <a:latin typeface="Times New Roman"/>
                          <a:ea typeface="Times New Roman"/>
                          <a:cs typeface="Times New Roman"/>
                          <a:sym typeface="Times New Roman"/>
                        </a:rPr>
                        <a:t>1. Lightweight and Interpretable Edge Intelligence AI with Intrusion Detection for Trustworthy Cardiac Arrhythmia in Medical IoT (CLARITY-AI 2.0)</a:t>
                      </a:r>
                    </a:p>
                  </a:txBody>
                  <a:tcPr marL="27432" marR="27432" marT="27432" marB="27432" horzOverflow="overflow">
                    <a:solidFill>
                      <a:srgbClr val="E8EEF7"/>
                    </a:solidFill>
                  </a:tcPr>
                </a:tc>
                <a:tc>
                  <a:txBody>
                    <a:bodyPr/>
                    <a:lstStyle/>
                    <a:p>
                      <a:pPr algn="l">
                        <a:defRPr sz="1800"/>
                      </a:pPr>
                      <a:r>
                        <a:rPr sz="1100" dirty="0">
                          <a:solidFill>
                            <a:srgbClr val="202020"/>
                          </a:solidFill>
                          <a:latin typeface="Times New Roman"/>
                          <a:ea typeface="Times New Roman"/>
                          <a:cs typeface="Times New Roman"/>
                          <a:sym typeface="Times New Roman"/>
                        </a:rPr>
                        <a:t>Detect heart rhythm problems on a small device, explain the decision, and stay safe from network attacks.</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Small feature-based model. SHAP explains the output; an LLM turns it into plain English for clinicians. Tested on an ESP32 chip.</a:t>
                      </a:r>
                    </a:p>
                  </a:txBody>
                  <a:tcPr marL="27432" marR="27432" marT="27432" marB="27432" horzOverflow="overflow">
                    <a:solidFill>
                      <a:srgbClr val="E8EEF7"/>
                    </a:solidFill>
                  </a:tcPr>
                </a:tc>
                <a:tc>
                  <a:txBody>
                    <a:bodyPr/>
                    <a:lstStyle/>
                    <a:p>
                      <a:pPr algn="l">
                        <a:defRPr sz="1800"/>
                      </a:pPr>
                      <a:r>
                        <a:rPr sz="1100" dirty="0">
                          <a:solidFill>
                            <a:srgbClr val="202020"/>
                          </a:solidFill>
                          <a:latin typeface="Times New Roman"/>
                          <a:ea typeface="Times New Roman"/>
                          <a:cs typeface="Times New Roman"/>
                          <a:sym typeface="Times New Roman"/>
                        </a:rPr>
                        <a:t>+ Combines explanation, small size and security.
+ Turns explanations into readable text</a:t>
                      </a:r>
                      <a:r>
                        <a:rPr lang="en-IN" sz="1100" dirty="0">
                          <a:solidFill>
                            <a:srgbClr val="202020"/>
                          </a:solidFill>
                          <a:latin typeface="Times New Roman"/>
                          <a:ea typeface="Times New Roman"/>
                          <a:cs typeface="Times New Roman"/>
                          <a:sym typeface="Times New Roman"/>
                        </a:rPr>
                        <a:t>, </a:t>
                      </a:r>
                      <a:r>
                        <a:rPr sz="1100" dirty="0">
                          <a:solidFill>
                            <a:srgbClr val="202020"/>
                          </a:solidFill>
                          <a:latin typeface="Times New Roman"/>
                          <a:ea typeface="Times New Roman"/>
                          <a:cs typeface="Times New Roman"/>
                          <a:sym typeface="Times New Roman"/>
                        </a:rPr>
                        <a:t>useful for our caregiver dashboard.
− SHAP is added after training, so it is slow.</a:t>
                      </a:r>
                    </a:p>
                  </a:txBody>
                  <a:tcPr marL="27432" marR="27432" marT="27432" marB="27432" horzOverflow="overflow">
                    <a:solidFill>
                      <a:srgbClr val="E8EEF7"/>
                    </a:solidFill>
                  </a:tcPr>
                </a:tc>
                <a:tc>
                  <a:txBody>
                    <a:bodyPr/>
                    <a:lstStyle/>
                    <a:p>
                      <a:pPr algn="l">
                        <a:defRPr sz="1800"/>
                      </a:pPr>
                      <a:r>
                        <a:rPr lang="en-IN" sz="1100" b="0" dirty="0"/>
                        <a:t>Achieved 92.8% F1-score with low memory and fast processing, making it suitable for real-time edge devices.</a:t>
                      </a:r>
                      <a:endParaRPr sz="1100" b="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extLst>
                  <a:ext uri="{0D108BD9-81ED-4DB2-BD59-A6C34878D82A}">
                    <a16:rowId xmlns:a16="http://schemas.microsoft.com/office/drawing/2014/main" val="10001"/>
                  </a:ext>
                </a:extLst>
              </a:tr>
              <a:tr h="1152144">
                <a:tc>
                  <a:txBody>
                    <a:bodyPr/>
                    <a:lstStyle/>
                    <a:p>
                      <a:pPr algn="l">
                        <a:defRPr sz="1800"/>
                      </a:pPr>
                      <a:r>
                        <a:rPr sz="1100" b="1">
                          <a:solidFill>
                            <a:srgbClr val="202020"/>
                          </a:solidFill>
                          <a:latin typeface="Times New Roman"/>
                          <a:ea typeface="Times New Roman"/>
                          <a:cs typeface="Times New Roman"/>
                          <a:sym typeface="Times New Roman"/>
                        </a:rPr>
                        <a:t>2. xECGArch: A Trustworthy Deep Learning Architecture for Interpretable ECG Analysis Considering Short-Term and Long-Term Features</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Build an ECG model whose design itself shows which part of the signal it is using.</a:t>
                      </a:r>
                    </a:p>
                  </a:txBody>
                  <a:tcPr marL="27432" marR="27432" marT="27432" marB="27432" horzOverflow="overflow">
                    <a:solidFill>
                      <a:srgbClr val="FFFFFF"/>
                    </a:solidFill>
                  </a:tcPr>
                </a:tc>
                <a:tc>
                  <a:txBody>
                    <a:bodyPr/>
                    <a:lstStyle/>
                    <a:p>
                      <a:pPr algn="l">
                        <a:defRPr sz="1800"/>
                      </a:pPr>
                      <a:r>
                        <a:rPr sz="1100" dirty="0">
                          <a:solidFill>
                            <a:srgbClr val="202020"/>
                          </a:solidFill>
                          <a:latin typeface="Times New Roman"/>
                          <a:ea typeface="Times New Roman"/>
                          <a:cs typeface="Times New Roman"/>
                          <a:sym typeface="Times New Roman"/>
                        </a:rPr>
                        <a:t>Two CNNs — one reads a single heartbeat, one the whole 10-second rhythm. 13 explanation methods compared on 4 databases.</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 The split design is itself an explanation.
+ The 13-method comparison tells us which explainer to pick.
− Only detects atrial fibrillation.</a:t>
                      </a:r>
                    </a:p>
                  </a:txBody>
                  <a:tcPr marL="27432" marR="27432" marT="27432" marB="27432" horzOverflow="overflow">
                    <a:solidFill>
                      <a:srgbClr val="FFFFFF"/>
                    </a:solidFill>
                  </a:tcPr>
                </a:tc>
                <a:tc>
                  <a:txBody>
                    <a:bodyPr/>
                    <a:lstStyle/>
                    <a:p>
                      <a:pPr algn="l">
                        <a:defRPr sz="1800"/>
                      </a:pPr>
                      <a:r>
                        <a:rPr lang="en-IN" sz="1100" b="0" dirty="0"/>
                        <a:t>Reached 95.43% F1-score and showed that the choice of explanation method greatly affects interpretability.</a:t>
                      </a:r>
                      <a:endParaRPr sz="1100" b="0" dirty="0">
                        <a:solidFill>
                          <a:srgbClr val="202020"/>
                        </a:solidFill>
                        <a:latin typeface="Times New Roman"/>
                        <a:ea typeface="Times New Roman"/>
                        <a:cs typeface="Times New Roman"/>
                        <a:sym typeface="Times New Roman"/>
                      </a:endParaRPr>
                    </a:p>
                  </a:txBody>
                  <a:tcPr marL="27432" marR="27432" marT="27432" marB="27432" horzOverflow="overflow">
                    <a:solidFill>
                      <a:srgbClr val="FFFFFF"/>
                    </a:solidFill>
                  </a:tcPr>
                </a:tc>
                <a:extLst>
                  <a:ext uri="{0D108BD9-81ED-4DB2-BD59-A6C34878D82A}">
                    <a16:rowId xmlns:a16="http://schemas.microsoft.com/office/drawing/2014/main" val="10002"/>
                  </a:ext>
                </a:extLst>
              </a:tr>
              <a:tr h="1152144">
                <a:tc>
                  <a:txBody>
                    <a:bodyPr/>
                    <a:lstStyle/>
                    <a:p>
                      <a:pPr algn="l">
                        <a:defRPr sz="1800"/>
                      </a:pPr>
                      <a:r>
                        <a:rPr sz="1100" b="1">
                          <a:solidFill>
                            <a:srgbClr val="202020"/>
                          </a:solidFill>
                          <a:latin typeface="Times New Roman"/>
                          <a:ea typeface="Times New Roman"/>
                          <a:cs typeface="Times New Roman"/>
                          <a:sym typeface="Times New Roman"/>
                        </a:rPr>
                        <a:t>3. EXGnet: An Explainable Artificial Intelligence Framework for Trustworthy Arrhythmia Detection from Heart Rhythm Data</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Get accuracy and explainability together, without adding a separate tool after training.</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Trained to explain itself via an attention-based loss. Relevance regions are derived automatically from heart-rate variability, with no manual labelling.</a:t>
                      </a:r>
                    </a:p>
                  </a:txBody>
                  <a:tcPr marL="27432" marR="27432" marT="27432" marB="27432" horzOverflow="overflow">
                    <a:solidFill>
                      <a:srgbClr val="E8EEF7"/>
                    </a:solidFill>
                  </a:tcPr>
                </a:tc>
                <a:tc>
                  <a:txBody>
                    <a:bodyPr/>
                    <a:lstStyle/>
                    <a:p>
                      <a:pPr algn="l">
                        <a:defRPr sz="1800"/>
                      </a:pPr>
                      <a:r>
                        <a:rPr sz="1100" dirty="0">
                          <a:solidFill>
                            <a:srgbClr val="202020"/>
                          </a:solidFill>
                          <a:latin typeface="Times New Roman"/>
                          <a:ea typeface="Times New Roman"/>
                          <a:cs typeface="Times New Roman"/>
                          <a:sym typeface="Times New Roman"/>
                        </a:rPr>
                        <a:t>+ Explanation built in during training.
+ Needs no hand-marked regions</a:t>
                      </a:r>
                      <a:r>
                        <a:rPr lang="en-IN" sz="1100" dirty="0">
                          <a:solidFill>
                            <a:srgbClr val="202020"/>
                          </a:solidFill>
                          <a:latin typeface="Times New Roman"/>
                          <a:ea typeface="Times New Roman"/>
                          <a:cs typeface="Times New Roman"/>
                          <a:sym typeface="Times New Roman"/>
                        </a:rPr>
                        <a:t>, </a:t>
                      </a:r>
                      <a:r>
                        <a:rPr sz="1100" dirty="0">
                          <a:solidFill>
                            <a:srgbClr val="202020"/>
                          </a:solidFill>
                          <a:latin typeface="Times New Roman"/>
                          <a:ea typeface="Times New Roman"/>
                          <a:cs typeface="Times New Roman"/>
                          <a:sym typeface="Times New Roman"/>
                        </a:rPr>
                        <a:t>important for us, as we have no clinician annotators.
− Single-lead ECG only.</a:t>
                      </a:r>
                    </a:p>
                  </a:txBody>
                  <a:tcPr marL="27432" marR="27432" marT="27432" marB="27432" horzOverflow="overflow">
                    <a:solidFill>
                      <a:srgbClr val="E8EEF7"/>
                    </a:solidFill>
                  </a:tcPr>
                </a:tc>
                <a:tc>
                  <a:txBody>
                    <a:bodyPr/>
                    <a:lstStyle/>
                    <a:p>
                      <a:pPr algn="l">
                        <a:defRPr sz="1800"/>
                      </a:pPr>
                      <a:r>
                        <a:rPr lang="en-IN" sz="1100" b="0" dirty="0"/>
                        <a:t>Achieved 98.76% and 96.93% accuracy on two datasets, proving that built-in explainability can improve performance.</a:t>
                      </a:r>
                      <a:endParaRPr sz="1100" b="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extLst>
                  <a:ext uri="{0D108BD9-81ED-4DB2-BD59-A6C34878D82A}">
                    <a16:rowId xmlns:a16="http://schemas.microsoft.com/office/drawing/2014/main" val="10003"/>
                  </a:ext>
                </a:extLst>
              </a:tr>
              <a:tr h="1152144">
                <a:tc>
                  <a:txBody>
                    <a:bodyPr/>
                    <a:lstStyle/>
                    <a:p>
                      <a:pPr algn="l">
                        <a:defRPr sz="1800"/>
                      </a:pPr>
                      <a:r>
                        <a:rPr sz="1100" b="1">
                          <a:solidFill>
                            <a:srgbClr val="202020"/>
                          </a:solidFill>
                          <a:latin typeface="Times New Roman"/>
                          <a:ea typeface="Times New Roman"/>
                          <a:cs typeface="Times New Roman"/>
                          <a:sym typeface="Times New Roman"/>
                        </a:rPr>
                        <a:t>4. ProtoECGNet: Case-Based Interpretable Deep Learning for Multi-Label ECG Classification with Contrastive Learning</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Explain a decision by showing a real past recording that looks similar, instead of a heatmap.</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Three prototype branches — rhythm, shape, abnormality. Every prototype is a real ECG segment.</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 The explanation is an actual signal a person can read.
+ Prototypes suit per-patient storage, which fits our personalisation design.
− Still a preprint.</a:t>
                      </a:r>
                    </a:p>
                  </a:txBody>
                  <a:tcPr marL="27432" marR="27432" marT="27432" marB="27432" horzOverflow="overflow">
                    <a:solidFill>
                      <a:srgbClr val="FFFFFF"/>
                    </a:solidFill>
                  </a:tcPr>
                </a:tc>
                <a:tc>
                  <a:txBody>
                    <a:bodyPr/>
                    <a:lstStyle/>
                    <a:p>
                      <a:pPr algn="l">
                        <a:defRPr sz="1800"/>
                      </a:pPr>
                      <a:r>
                        <a:rPr lang="en-IN" sz="1100" dirty="0"/>
                        <a:t>Prototype-based explanations were effective and can support personalized ECG interpretation.</a:t>
                      </a:r>
                      <a:endParaRPr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FFFFFF"/>
                    </a:solidFill>
                  </a:tcPr>
                </a:tc>
                <a:extLst>
                  <a:ext uri="{0D108BD9-81ED-4DB2-BD59-A6C34878D82A}">
                    <a16:rowId xmlns:a16="http://schemas.microsoft.com/office/drawing/2014/main" val="10004"/>
                  </a:ext>
                </a:extLst>
              </a:tr>
            </a:tbl>
          </a:graphicData>
        </a:graphic>
      </p:graphicFrame>
      <p:sp>
        <p:nvSpPr>
          <p:cNvPr id="2" name="object 2">
            <a:extLst>
              <a:ext uri="{FF2B5EF4-FFF2-40B4-BE49-F238E27FC236}">
                <a16:creationId xmlns:a16="http://schemas.microsoft.com/office/drawing/2014/main" id="{CC64A755-DFC7-9716-63CD-513CFF681D12}"/>
              </a:ext>
            </a:extLst>
          </p:cNvPr>
          <p:cNvSpPr txBox="1">
            <a:spLocks noGrp="1"/>
          </p:cNvSpPr>
          <p:nvPr>
            <p:ph type="title"/>
          </p:nvPr>
        </p:nvSpPr>
        <p:spPr>
          <a:xfrm>
            <a:off x="-146585" y="557657"/>
            <a:ext cx="3567789" cy="576697"/>
          </a:xfrm>
          <a:prstGeom prst="rect">
            <a:avLst/>
          </a:prstGeom>
        </p:spPr>
        <p:txBody>
          <a:bodyPr lIns="0" tIns="0" rIns="0" bIns="0"/>
          <a:lstStyle>
            <a:lvl1pPr indent="486409">
              <a:lnSpc>
                <a:spcPct val="100000"/>
              </a:lnSpc>
              <a:spcBef>
                <a:spcPts val="100"/>
              </a:spcBef>
              <a:defRPr sz="3000" b="1" spc="-100">
                <a:latin typeface="Times New Roman"/>
                <a:ea typeface="Times New Roman"/>
                <a:cs typeface="Times New Roman"/>
                <a:sym typeface="Times New Roman"/>
              </a:defRPr>
            </a:lvl1pPr>
          </a:lstStyle>
          <a:p>
            <a:r>
              <a:rPr lang="en-IN" dirty="0"/>
              <a:t>Literature Review</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Footer Placeholder 8"/>
          <p:cNvSpPr txBox="1"/>
          <p:nvPr/>
        </p:nvSpPr>
        <p:spPr>
          <a:xfrm>
            <a:off x="4091300" y="6414760"/>
            <a:ext cx="4023360"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a:solidFill>
                  <a:srgbClr val="888888"/>
                </a:solidFill>
              </a:defRPr>
            </a:lvl1pPr>
          </a:lstStyle>
          <a:p>
            <a:r>
              <a:t>SCOPE</a:t>
            </a:r>
          </a:p>
        </p:txBody>
      </p:sp>
      <p:sp>
        <p:nvSpPr>
          <p:cNvPr id="122" name="Date Placeholder 7"/>
          <p:cNvSpPr txBox="1"/>
          <p:nvPr/>
        </p:nvSpPr>
        <p:spPr>
          <a:xfrm>
            <a:off x="890899" y="6414760"/>
            <a:ext cx="2651762"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a:solidFill>
                  <a:srgbClr val="888888"/>
                </a:solidFill>
              </a:defRPr>
            </a:lvl1pPr>
          </a:lstStyle>
          <a:p>
            <a:r>
              <a:t>21-07-2026</a:t>
            </a:r>
          </a:p>
        </p:txBody>
      </p:sp>
      <p:sp>
        <p:nvSpPr>
          <p:cNvPr id="123" name="Slide Number Placeholder 9"/>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IN" smtClean="0"/>
              <a:pPr/>
              <a:t>6</a:t>
            </a:fld>
            <a:endParaRPr/>
          </a:p>
        </p:txBody>
      </p:sp>
      <p:graphicFrame>
        <p:nvGraphicFramePr>
          <p:cNvPr id="124" name="Table 10"/>
          <p:cNvGraphicFramePr/>
          <p:nvPr/>
        </p:nvGraphicFramePr>
        <p:xfrm>
          <a:off x="429768" y="384047"/>
          <a:ext cx="11338560" cy="5760720"/>
        </p:xfrm>
        <a:graphic>
          <a:graphicData uri="http://schemas.openxmlformats.org/drawingml/2006/table">
            <a:tbl>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1440180">
                <a:tc>
                  <a:txBody>
                    <a:bodyPr/>
                    <a:lstStyle/>
                    <a:p>
                      <a:pPr algn="l">
                        <a:defRPr sz="1800"/>
                      </a:pPr>
                      <a:r>
                        <a:rPr lang="en-US" sz="1100" b="1">
                          <a:solidFill>
                            <a:srgbClr val="202020"/>
                          </a:solidFill>
                          <a:latin typeface="Times New Roman"/>
                          <a:ea typeface="Times New Roman"/>
                          <a:cs typeface="Times New Roman"/>
                          <a:sym typeface="Times New Roman"/>
                        </a:rPr>
                        <a:t>5. Exploration of an Intrinsically Explainable Self-Attention Based Model for Prototype Generation on Single-Channel EEG Sleep Stage Classification</a:t>
                      </a:r>
                      <a:endParaRPr lang="en-US" sz="1100" b="1"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tc>
                  <a:txBody>
                    <a:bodyPr/>
                    <a:lstStyle/>
                    <a:p>
                      <a:pPr algn="l">
                        <a:defRPr sz="1800"/>
                      </a:pPr>
                      <a:r>
                        <a:rPr lang="en-US" sz="1100">
                          <a:solidFill>
                            <a:srgbClr val="202020"/>
                          </a:solidFill>
                          <a:latin typeface="Times New Roman"/>
                          <a:ea typeface="Times New Roman"/>
                          <a:cs typeface="Times New Roman"/>
                          <a:sym typeface="Times New Roman"/>
                        </a:rPr>
                        <a:t>Check whether a prototype-based explainable design built for ECG also works on brain signals.</a:t>
                      </a:r>
                    </a:p>
                  </a:txBody>
                  <a:tcPr marL="27432" marR="27432" marT="27432" marB="27432" horzOverflow="overflow">
                    <a:solidFill>
                      <a:srgbClr val="E8EEF7"/>
                    </a:solidFill>
                  </a:tcPr>
                </a:tc>
                <a:tc>
                  <a:txBody>
                    <a:bodyPr/>
                    <a:lstStyle/>
                    <a:p>
                      <a:pPr algn="l">
                        <a:defRPr sz="1800"/>
                      </a:pPr>
                      <a:r>
                        <a:rPr lang="en-US" sz="1100">
                          <a:solidFill>
                            <a:srgbClr val="202020"/>
                          </a:solidFill>
                          <a:latin typeface="Times New Roman"/>
                          <a:ea typeface="Times New Roman"/>
                          <a:cs typeface="Times New Roman"/>
                          <a:sym typeface="Times New Roman"/>
                        </a:rPr>
                        <a:t>Self-attention prototype model on single-channel EEG. Compared against EEGNet, a strong black box. Explanation quality scored with AOPC.</a:t>
                      </a:r>
                      <a:endParaRPr lang="en-US"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tc>
                  <a:txBody>
                    <a:bodyPr/>
                    <a:lstStyle/>
                    <a:p>
                      <a:pPr algn="l">
                        <a:defRPr sz="1800"/>
                      </a:pPr>
                      <a:r>
                        <a:rPr lang="en-US" sz="1100">
                          <a:solidFill>
                            <a:srgbClr val="202020"/>
                          </a:solidFill>
                          <a:latin typeface="Times New Roman"/>
                          <a:ea typeface="Times New Roman"/>
                          <a:cs typeface="Times New Roman"/>
                          <a:sym typeface="Times New Roman"/>
                        </a:rPr>
                        <a:t>+ Same accuracy as the black box, but explainable.
+ Shows one design can serve heart and brain signals our exact situation.
− Time domain only.</a:t>
                      </a:r>
                      <a:endParaRPr lang="en-US"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tc>
                  <a:txBody>
                    <a:bodyPr/>
                    <a:lstStyle/>
                    <a:p>
                      <a:pPr algn="l">
                        <a:defRPr sz="1800"/>
                      </a:pPr>
                      <a:r>
                        <a:rPr lang="en-US" sz="1100" dirty="0"/>
                        <a:t>Prototype-based explanations matched sleep stage patterns while maintaining high classification accuracy.</a:t>
                      </a:r>
                      <a:endParaRPr lang="en-US"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extLst>
                  <a:ext uri="{0D108BD9-81ED-4DB2-BD59-A6C34878D82A}">
                    <a16:rowId xmlns:a16="http://schemas.microsoft.com/office/drawing/2014/main" val="10000"/>
                  </a:ext>
                </a:extLst>
              </a:tr>
              <a:tr h="1440180">
                <a:tc>
                  <a:txBody>
                    <a:bodyPr/>
                    <a:lstStyle/>
                    <a:p>
                      <a:pPr algn="l">
                        <a:defRPr sz="1800"/>
                      </a:pPr>
                      <a:r>
                        <a:rPr sz="1100" b="1">
                          <a:solidFill>
                            <a:srgbClr val="202020"/>
                          </a:solidFill>
                          <a:latin typeface="Times New Roman"/>
                          <a:ea typeface="Times New Roman"/>
                          <a:cs typeface="Times New Roman"/>
                          <a:sym typeface="Times New Roman"/>
                        </a:rPr>
                        <a:t>6. LightSeizureNet: A Lightweight Deep Learning Model for Real-Time Epileptic Seizure Detection</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Run real-time seizure detection from raw EEG on a low-power wearable.</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Dilated 1D convolutions, global average pooling and pruning. General and per-patient versions. Tested on CHB-MIT.</a:t>
                      </a:r>
                    </a:p>
                  </a:txBody>
                  <a:tcPr marL="27432" marR="27432" marT="27432" marB="27432" horzOverflow="overflow">
                    <a:solidFill>
                      <a:srgbClr val="FFFFFF"/>
                    </a:solidFill>
                  </a:tcPr>
                </a:tc>
                <a:tc>
                  <a:txBody>
                    <a:bodyPr/>
                    <a:lstStyle/>
                    <a:p>
                      <a:pPr algn="l">
                        <a:defRPr sz="1800"/>
                      </a:pPr>
                      <a:r>
                        <a:rPr sz="1100" dirty="0">
                          <a:solidFill>
                            <a:srgbClr val="202020"/>
                          </a:solidFill>
                          <a:latin typeface="Times New Roman"/>
                          <a:ea typeface="Times New Roman"/>
                          <a:cs typeface="Times New Roman"/>
                          <a:sym typeface="Times New Roman"/>
                        </a:rPr>
                        <a:t>+ Provides a per-patient variant</a:t>
                      </a:r>
                      <a:r>
                        <a:rPr lang="en-IN" sz="1100" dirty="0">
                          <a:solidFill>
                            <a:srgbClr val="202020"/>
                          </a:solidFill>
                          <a:latin typeface="Times New Roman"/>
                          <a:ea typeface="Times New Roman"/>
                          <a:cs typeface="Times New Roman"/>
                          <a:sym typeface="Times New Roman"/>
                        </a:rPr>
                        <a:t> </a:t>
                      </a:r>
                      <a:r>
                        <a:rPr sz="1100" dirty="0">
                          <a:solidFill>
                            <a:srgbClr val="202020"/>
                          </a:solidFill>
                          <a:latin typeface="Times New Roman"/>
                          <a:ea typeface="Times New Roman"/>
                          <a:cs typeface="Times New Roman"/>
                          <a:sym typeface="Times New Roman"/>
                        </a:rPr>
                        <a:t>directly relevant to our personalization.
+ Works from raw EEG, no hand-built features.
− One dataset only.</a:t>
                      </a:r>
                    </a:p>
                  </a:txBody>
                  <a:tcPr marL="27432" marR="27432" marT="27432" marB="27432" horzOverflow="overflow">
                    <a:solidFill>
                      <a:srgbClr val="FFFFFF"/>
                    </a:solidFill>
                  </a:tcPr>
                </a:tc>
                <a:tc>
                  <a:txBody>
                    <a:bodyPr/>
                    <a:lstStyle/>
                    <a:p>
                      <a:pPr algn="l">
                        <a:defRPr sz="1800"/>
                      </a:pPr>
                      <a:r>
                        <a:rPr lang="en-IN" sz="1100" dirty="0"/>
                        <a:t>Achieved real-time seizure detection with high accuracy and low computational cost, making it suitable for wearable devices.</a:t>
                      </a:r>
                      <a:endParaRPr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FFFFFF"/>
                    </a:solidFill>
                  </a:tcPr>
                </a:tc>
                <a:extLst>
                  <a:ext uri="{0D108BD9-81ED-4DB2-BD59-A6C34878D82A}">
                    <a16:rowId xmlns:a16="http://schemas.microsoft.com/office/drawing/2014/main" val="10001"/>
                  </a:ext>
                </a:extLst>
              </a:tr>
              <a:tr h="1440180">
                <a:tc>
                  <a:txBody>
                    <a:bodyPr/>
                    <a:lstStyle/>
                    <a:p>
                      <a:pPr algn="l">
                        <a:defRPr sz="1800"/>
                      </a:pPr>
                      <a:r>
                        <a:rPr sz="1100" b="1">
                          <a:solidFill>
                            <a:srgbClr val="202020"/>
                          </a:solidFill>
                          <a:latin typeface="Times New Roman"/>
                          <a:ea typeface="Times New Roman"/>
                          <a:cs typeface="Times New Roman"/>
                          <a:sym typeface="Times New Roman"/>
                        </a:rPr>
                        <a:t>7. Automated Stress Detection with Explainable-AI Transformer TabNet Technique and Physiological Signals</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Detect stress from wearable signals, comparing built-in explanation directly against SHAP and LIME.</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TabNet (self-explaining via attention) vs. SVM and XGBoost on four wearable datasets, using heart rate and skin conductance.</a:t>
                      </a:r>
                    </a:p>
                  </a:txBody>
                  <a:tcPr marL="27432" marR="27432" marT="27432" marB="27432" horzOverflow="overflow">
                    <a:solidFill>
                      <a:srgbClr val="E8EEF7"/>
                    </a:solidFill>
                  </a:tcPr>
                </a:tc>
                <a:tc>
                  <a:txBody>
                    <a:bodyPr/>
                    <a:lstStyle/>
                    <a:p>
                      <a:pPr algn="l">
                        <a:defRPr sz="1800"/>
                      </a:pPr>
                      <a:r>
                        <a:rPr sz="1100">
                          <a:solidFill>
                            <a:srgbClr val="202020"/>
                          </a:solidFill>
                          <a:latin typeface="Times New Roman"/>
                          <a:ea typeface="Times New Roman"/>
                          <a:cs typeface="Times New Roman"/>
                          <a:sym typeface="Times New Roman"/>
                        </a:rPr>
                        <a:t>+ Rare head-to-head test of built-in vs. added-on explanation.
+ Four datasets, so not a fluke.
− Feature-based, not raw waveform.</a:t>
                      </a:r>
                    </a:p>
                  </a:txBody>
                  <a:tcPr marL="27432" marR="27432" marT="27432" marB="27432" horzOverflow="overflow">
                    <a:solidFill>
                      <a:srgbClr val="E8EEF7"/>
                    </a:solidFill>
                  </a:tcPr>
                </a:tc>
                <a:tc>
                  <a:txBody>
                    <a:bodyPr/>
                    <a:lstStyle/>
                    <a:p>
                      <a:pPr algn="l">
                        <a:defRPr sz="1800"/>
                      </a:pPr>
                      <a:r>
                        <a:rPr lang="en-IN" sz="1100" dirty="0" err="1"/>
                        <a:t>TabNet</a:t>
                      </a:r>
                      <a:r>
                        <a:rPr lang="en-IN" sz="1100" dirty="0"/>
                        <a:t> outperformed traditional models while providing built-in explanations for its predictions.</a:t>
                      </a:r>
                      <a:endParaRPr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E8EEF7"/>
                    </a:solidFill>
                  </a:tcPr>
                </a:tc>
                <a:extLst>
                  <a:ext uri="{0D108BD9-81ED-4DB2-BD59-A6C34878D82A}">
                    <a16:rowId xmlns:a16="http://schemas.microsoft.com/office/drawing/2014/main" val="10002"/>
                  </a:ext>
                </a:extLst>
              </a:tr>
              <a:tr h="1440180">
                <a:tc>
                  <a:txBody>
                    <a:bodyPr/>
                    <a:lstStyle/>
                    <a:p>
                      <a:pPr algn="l">
                        <a:defRPr sz="1800"/>
                      </a:pPr>
                      <a:r>
                        <a:rPr sz="1100" b="1" dirty="0">
                          <a:solidFill>
                            <a:srgbClr val="202020"/>
                          </a:solidFill>
                          <a:latin typeface="Times New Roman"/>
                          <a:ea typeface="Times New Roman"/>
                          <a:cs typeface="Times New Roman"/>
                          <a:sym typeface="Times New Roman"/>
                        </a:rPr>
                        <a:t>8. Explainable Detection of Myocardial Infarction Using Deep Learning Models with Grad-CAM Technique on ECG Signals</a:t>
                      </a:r>
                    </a:p>
                  </a:txBody>
                  <a:tcPr marL="27432" marR="27432" marT="27432" marB="27432" horzOverflow="overflow">
                    <a:solidFill>
                      <a:srgbClr val="FFFFFF"/>
                    </a:solidFill>
                  </a:tcPr>
                </a:tc>
                <a:tc>
                  <a:txBody>
                    <a:bodyPr/>
                    <a:lstStyle/>
                    <a:p>
                      <a:pPr algn="l">
                        <a:defRPr sz="1800"/>
                      </a:pPr>
                      <a:r>
                        <a:rPr sz="1100" dirty="0">
                          <a:solidFill>
                            <a:srgbClr val="202020"/>
                          </a:solidFill>
                          <a:latin typeface="Times New Roman"/>
                          <a:ea typeface="Times New Roman"/>
                          <a:cs typeface="Times New Roman"/>
                          <a:sym typeface="Times New Roman"/>
                        </a:rPr>
                        <a:t>Detect heart attacks from ECG and show which part of the signal caused the decision.</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A CNN with Grad-CAM applied directly to the ECG waveform.</a:t>
                      </a:r>
                    </a:p>
                  </a:txBody>
                  <a:tcPr marL="27432" marR="27432" marT="27432" marB="27432" horzOverflow="overflow">
                    <a:solidFill>
                      <a:srgbClr val="FFFFFF"/>
                    </a:solidFill>
                  </a:tcPr>
                </a:tc>
                <a:tc>
                  <a:txBody>
                    <a:bodyPr/>
                    <a:lstStyle/>
                    <a:p>
                      <a:pPr algn="l">
                        <a:defRPr sz="1800"/>
                      </a:pPr>
                      <a:r>
                        <a:rPr sz="1100">
                          <a:solidFill>
                            <a:srgbClr val="202020"/>
                          </a:solidFill>
                          <a:latin typeface="Times New Roman"/>
                          <a:ea typeface="Times New Roman"/>
                          <a:cs typeface="Times New Roman"/>
                          <a:sym typeface="Times New Roman"/>
                        </a:rPr>
                        <a:t>+ The standard reference for Grad-CAM on physiological signals.
+ Simple to reproduce in our pipeline.
− The heatmaps are coarse and blurry.</a:t>
                      </a:r>
                    </a:p>
                  </a:txBody>
                  <a:tcPr marL="27432" marR="27432" marT="27432" marB="27432" horzOverflow="overflow">
                    <a:solidFill>
                      <a:srgbClr val="FFFFFF"/>
                    </a:solidFill>
                  </a:tcPr>
                </a:tc>
                <a:tc>
                  <a:txBody>
                    <a:bodyPr/>
                    <a:lstStyle/>
                    <a:p>
                      <a:pPr algn="l">
                        <a:defRPr sz="1800"/>
                      </a:pPr>
                      <a:r>
                        <a:rPr lang="en-IN" sz="1100" dirty="0"/>
                        <a:t>Grad-CAM highlighted important ECG regions but produced coarse explanations with limited precision.</a:t>
                      </a:r>
                      <a:endParaRPr sz="1100" dirty="0">
                        <a:solidFill>
                          <a:srgbClr val="202020"/>
                        </a:solidFill>
                        <a:latin typeface="Times New Roman"/>
                        <a:ea typeface="Times New Roman"/>
                        <a:cs typeface="Times New Roman"/>
                        <a:sym typeface="Times New Roman"/>
                      </a:endParaRPr>
                    </a:p>
                  </a:txBody>
                  <a:tcPr marL="27432" marR="27432" marT="27432" marB="27432" horzOverflow="overflow">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a:bodyPr>
          <a:lstStyle/>
          <a:p>
            <a:r>
              <a:rPr lang="en-IN" sz="1600" b="1" dirty="0">
                <a:latin typeface="Times New Roman" panose="02020603050405020304" pitchFamily="18" charset="0"/>
                <a:cs typeface="Times New Roman" panose="02020603050405020304" pitchFamily="18" charset="0"/>
              </a:rPr>
              <a:t>What already exists</a:t>
            </a:r>
          </a:p>
          <a:p>
            <a:r>
              <a:rPr lang="en-IN" sz="1600" dirty="0">
                <a:latin typeface="Times New Roman" panose="02020603050405020304" pitchFamily="18" charset="0"/>
                <a:cs typeface="Times New Roman" panose="02020603050405020304" pitchFamily="18" charset="0"/>
              </a:rPr>
              <a:t>Vision-based gesture and gaze systems that control appliances.</a:t>
            </a:r>
          </a:p>
          <a:p>
            <a:r>
              <a:rPr lang="en-IN" sz="1600" dirty="0">
                <a:latin typeface="Times New Roman" panose="02020603050405020304" pitchFamily="18" charset="0"/>
                <a:cs typeface="Times New Roman" panose="02020603050405020304" pitchFamily="18" charset="0"/>
              </a:rPr>
              <a:t>Models tuned to an individual patient at enrolment, a one-time calibration.</a:t>
            </a:r>
          </a:p>
          <a:p>
            <a:r>
              <a:rPr lang="en-IN" sz="1600" dirty="0">
                <a:latin typeface="Times New Roman" panose="02020603050405020304" pitchFamily="18" charset="0"/>
                <a:cs typeface="Times New Roman" panose="02020603050405020304" pitchFamily="18" charset="0"/>
              </a:rPr>
              <a:t>Accurate cardiac monitoring.</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What is missing</a:t>
            </a:r>
          </a:p>
          <a:p>
            <a:r>
              <a:rPr lang="en-IN" sz="1600" dirty="0">
                <a:latin typeface="Times New Roman" panose="02020603050405020304" pitchFamily="18" charset="0"/>
                <a:cs typeface="Times New Roman" panose="02020603050405020304" pitchFamily="18" charset="0"/>
              </a:rPr>
              <a:t>Assistive systems ship a fixed model. A patient's movement changes with recovery, fatigue or progressive illness, and the model silently becomes less accurate for exactly the users who can least afford it.</a:t>
            </a:r>
          </a:p>
          <a:p>
            <a:r>
              <a:rPr lang="en-IN" sz="1600" dirty="0">
                <a:latin typeface="Times New Roman" panose="02020603050405020304" pitchFamily="18" charset="0"/>
                <a:cs typeface="Times New Roman" panose="02020603050405020304" pitchFamily="18" charset="0"/>
              </a:rPr>
              <a:t>Continual learning is well studied for physiological signals but has not been applied to assistive vision-based control.</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The gap</a:t>
            </a:r>
          </a:p>
          <a:p>
            <a:r>
              <a:rPr lang="en-IN" sz="1600" dirty="0">
                <a:latin typeface="Times New Roman" panose="02020603050405020304" pitchFamily="18" charset="0"/>
                <a:cs typeface="Times New Roman" panose="02020603050405020304" pitchFamily="18" charset="0"/>
              </a:rPr>
              <a:t>No assistive control system keeps adapting to the individual patient after deployment while retaining what it already learned, with cardiac monitoring running alongside.</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02-09-2026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Footer Placeholder 4"/>
          <p:cNvSpPr txBox="1"/>
          <p:nvPr/>
        </p:nvSpPr>
        <p:spPr>
          <a:xfrm>
            <a:off x="4084320" y="6401179"/>
            <a:ext cx="4023360" cy="2754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a:solidFill>
                  <a:srgbClr val="888888"/>
                </a:solidFill>
                <a:latin typeface="Times New Roman"/>
                <a:ea typeface="Times New Roman"/>
                <a:cs typeface="Times New Roman"/>
                <a:sym typeface="Times New Roman"/>
              </a:defRPr>
            </a:lvl1pPr>
          </a:lstStyle>
          <a:p>
            <a:r>
              <a:t>SCOPE</a:t>
            </a:r>
          </a:p>
        </p:txBody>
      </p:sp>
      <p:sp>
        <p:nvSpPr>
          <p:cNvPr id="151" name="Content Placeholder 2"/>
          <p:cNvSpPr txBox="1">
            <a:spLocks noGrp="1"/>
          </p:cNvSpPr>
          <p:nvPr>
            <p:ph type="body" sz="half" idx="1"/>
          </p:nvPr>
        </p:nvSpPr>
        <p:spPr>
          <a:xfrm>
            <a:off x="841247" y="1371598"/>
            <a:ext cx="10515601" cy="4484749"/>
          </a:xfrm>
          <a:prstGeom prst="rect">
            <a:avLst/>
          </a:prstGeom>
        </p:spPr>
        <p:txBody>
          <a:bodyPr>
            <a:normAutofit/>
          </a:bodyPr>
          <a:lstStyle/>
          <a:p>
            <a:pPr marL="0" indent="0">
              <a:buNone/>
              <a:defRPr sz="1200" b="1">
                <a:solidFill>
                  <a:srgbClr val="202020"/>
                </a:solidFill>
                <a:latin typeface="Times New Roman"/>
                <a:ea typeface="Times New Roman"/>
                <a:cs typeface="Times New Roman"/>
                <a:sym typeface="Times New Roman"/>
              </a:defRPr>
            </a:pPr>
            <a:r>
              <a:rPr sz="1800" dirty="0"/>
              <a:t>1.  Build the hands-free control pipeline.</a:t>
            </a:r>
          </a:p>
          <a:p>
            <a:pPr marL="457200" lvl="1" indent="0">
              <a:spcBef>
                <a:spcPts val="500"/>
              </a:spcBef>
              <a:buNone/>
              <a:defRPr sz="1000">
                <a:solidFill>
                  <a:srgbClr val="202020"/>
                </a:solidFill>
                <a:latin typeface="Times New Roman"/>
                <a:ea typeface="Times New Roman"/>
                <a:cs typeface="Times New Roman"/>
                <a:sym typeface="Times New Roman"/>
              </a:defRPr>
            </a:pPr>
            <a:r>
              <a:rPr sz="1600" dirty="0"/>
              <a:t>Face authentication, hand-gesture and gaze recognition with a hold-time threshold to suppress involuntary movement, driving appliances through an embedded controller.</a:t>
            </a:r>
            <a:endParaRPr sz="1100" dirty="0"/>
          </a:p>
          <a:p>
            <a:pPr marL="0" indent="0">
              <a:buNone/>
              <a:defRPr sz="1200" b="1">
                <a:solidFill>
                  <a:srgbClr val="202020"/>
                </a:solidFill>
                <a:latin typeface="Times New Roman"/>
                <a:ea typeface="Times New Roman"/>
                <a:cs typeface="Times New Roman"/>
                <a:sym typeface="Times New Roman"/>
              </a:defRPr>
            </a:pPr>
            <a:r>
              <a:rPr sz="1800" dirty="0"/>
              <a:t>2.  Make the model adapt to each patient continually.</a:t>
            </a:r>
          </a:p>
          <a:p>
            <a:pPr marL="457200" lvl="1" indent="0">
              <a:spcBef>
                <a:spcPts val="500"/>
              </a:spcBef>
              <a:buNone/>
              <a:defRPr sz="1000">
                <a:solidFill>
                  <a:srgbClr val="202020"/>
                </a:solidFill>
                <a:latin typeface="Times New Roman"/>
                <a:ea typeface="Times New Roman"/>
                <a:cs typeface="Times New Roman"/>
                <a:sym typeface="Times New Roman"/>
              </a:defRPr>
            </a:pPr>
            <a:r>
              <a:rPr sz="1600" dirty="0"/>
              <a:t>Enroll a base model per patient, then update it from their own interaction data using continual learning (EWC, replay and related methods).</a:t>
            </a:r>
            <a:endParaRPr sz="1100" dirty="0"/>
          </a:p>
          <a:p>
            <a:pPr marL="0" indent="0">
              <a:buNone/>
              <a:defRPr sz="1200" b="1">
                <a:solidFill>
                  <a:srgbClr val="202020"/>
                </a:solidFill>
                <a:latin typeface="Times New Roman"/>
                <a:ea typeface="Times New Roman"/>
                <a:cs typeface="Times New Roman"/>
                <a:sym typeface="Times New Roman"/>
              </a:defRPr>
            </a:pPr>
            <a:r>
              <a:rPr sz="1800" dirty="0"/>
              <a:t>3.  Show that adapting does not erase earlier learning.</a:t>
            </a:r>
          </a:p>
          <a:p>
            <a:pPr marL="457200" lvl="1" indent="0">
              <a:spcBef>
                <a:spcPts val="500"/>
              </a:spcBef>
              <a:buNone/>
              <a:defRPr sz="1000">
                <a:solidFill>
                  <a:srgbClr val="202020"/>
                </a:solidFill>
                <a:latin typeface="Times New Roman"/>
                <a:ea typeface="Times New Roman"/>
                <a:cs typeface="Times New Roman"/>
                <a:sym typeface="Times New Roman"/>
              </a:defRPr>
            </a:pPr>
            <a:r>
              <a:rPr sz="1600" dirty="0"/>
              <a:t>Measure accuracy over time against a fixed-model baseline, and measure forgetting on earlier gestures after adaptation.</a:t>
            </a:r>
            <a:endParaRPr sz="1100" dirty="0"/>
          </a:p>
          <a:p>
            <a:pPr marL="0" indent="0">
              <a:buNone/>
              <a:defRPr sz="1200" b="1">
                <a:solidFill>
                  <a:srgbClr val="202020"/>
                </a:solidFill>
                <a:latin typeface="Times New Roman"/>
                <a:ea typeface="Times New Roman"/>
                <a:cs typeface="Times New Roman"/>
                <a:sym typeface="Times New Roman"/>
              </a:defRPr>
            </a:pPr>
            <a:r>
              <a:rPr sz="1800" dirty="0"/>
              <a:t>4.  Monitor cardiac and neural signals in parallel.</a:t>
            </a:r>
          </a:p>
          <a:p>
            <a:pPr marL="457200" lvl="1" indent="0">
              <a:spcBef>
                <a:spcPts val="500"/>
              </a:spcBef>
              <a:buNone/>
              <a:defRPr sz="1000">
                <a:solidFill>
                  <a:srgbClr val="202020"/>
                </a:solidFill>
                <a:latin typeface="Times New Roman"/>
                <a:ea typeface="Times New Roman"/>
                <a:cs typeface="Times New Roman"/>
                <a:sym typeface="Times New Roman"/>
              </a:defRPr>
            </a:pPr>
            <a:r>
              <a:rPr sz="1600" dirty="0"/>
              <a:t>ECG for irregular heart activity running independently of the control path so a patient who cannot gesture is still monitored.</a:t>
            </a:r>
            <a:endParaRPr sz="1100" dirty="0"/>
          </a:p>
          <a:p>
            <a:pPr marL="0" indent="0">
              <a:buNone/>
              <a:defRPr sz="1200" b="1">
                <a:solidFill>
                  <a:srgbClr val="202020"/>
                </a:solidFill>
                <a:latin typeface="Times New Roman"/>
                <a:ea typeface="Times New Roman"/>
                <a:cs typeface="Times New Roman"/>
                <a:sym typeface="Times New Roman"/>
              </a:defRPr>
            </a:pPr>
            <a:r>
              <a:rPr sz="1800" dirty="0"/>
              <a:t>5.  Explain decisions and alerts to the caregiver.</a:t>
            </a:r>
          </a:p>
          <a:p>
            <a:pPr marL="457200" lvl="1" indent="0">
              <a:spcBef>
                <a:spcPts val="500"/>
              </a:spcBef>
              <a:buNone/>
              <a:defRPr sz="1000">
                <a:solidFill>
                  <a:srgbClr val="202020"/>
                </a:solidFill>
                <a:latin typeface="Times New Roman"/>
                <a:ea typeface="Times New Roman"/>
                <a:cs typeface="Times New Roman"/>
                <a:sym typeface="Times New Roman"/>
              </a:defRPr>
            </a:pPr>
            <a:r>
              <a:rPr sz="1600" dirty="0"/>
              <a:t>Apply and compare explanation methods, reporting localization, fidelity and stability rather than presenting heatmaps alone.</a:t>
            </a:r>
          </a:p>
        </p:txBody>
      </p:sp>
      <p:sp>
        <p:nvSpPr>
          <p:cNvPr id="152" name="object 2"/>
          <p:cNvSpPr txBox="1">
            <a:spLocks noGrp="1"/>
          </p:cNvSpPr>
          <p:nvPr>
            <p:ph type="title"/>
          </p:nvPr>
        </p:nvSpPr>
        <p:spPr>
          <a:xfrm>
            <a:off x="460248" y="681037"/>
            <a:ext cx="10515601" cy="576697"/>
          </a:xfrm>
          <a:prstGeom prst="rect">
            <a:avLst/>
          </a:prstGeom>
        </p:spPr>
        <p:txBody>
          <a:bodyPr lIns="0" tIns="0" rIns="0" bIns="0"/>
          <a:lstStyle>
            <a:lvl1pPr indent="486409">
              <a:lnSpc>
                <a:spcPct val="100000"/>
              </a:lnSpc>
              <a:spcBef>
                <a:spcPts val="100"/>
              </a:spcBef>
              <a:defRPr sz="3000" b="1">
                <a:latin typeface="Times New Roman"/>
                <a:ea typeface="Times New Roman"/>
                <a:cs typeface="Times New Roman"/>
                <a:sym typeface="Times New Roman"/>
              </a:defRPr>
            </a:lvl1pPr>
          </a:lstStyle>
          <a:p>
            <a:r>
              <a:rPr dirty="0"/>
              <a:t>Objectives</a:t>
            </a:r>
          </a:p>
        </p:txBody>
      </p:sp>
      <p:sp>
        <p:nvSpPr>
          <p:cNvPr id="153" name="Date Placeholder 1"/>
          <p:cNvSpPr txBox="1"/>
          <p:nvPr/>
        </p:nvSpPr>
        <p:spPr>
          <a:xfrm>
            <a:off x="883919" y="6401179"/>
            <a:ext cx="2651762" cy="2754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a:solidFill>
                  <a:srgbClr val="888888"/>
                </a:solidFill>
                <a:latin typeface="Times New Roman"/>
                <a:ea typeface="Times New Roman"/>
                <a:cs typeface="Times New Roman"/>
                <a:sym typeface="Times New Roman"/>
              </a:defRPr>
            </a:lvl1pPr>
          </a:lstStyle>
          <a:p>
            <a:r>
              <a:t>21-07-2026</a:t>
            </a:r>
          </a:p>
        </p:txBody>
      </p:sp>
      <p:sp>
        <p:nvSpPr>
          <p:cNvPr id="154" name="Slide Number Placeholder 5"/>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IN" smtClean="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87F1B7-68C7-AAB8-7E00-BD45F962F114}"/>
              </a:ext>
            </a:extLst>
          </p:cNvPr>
          <p:cNvSpPr txBox="1"/>
          <p:nvPr/>
        </p:nvSpPr>
        <p:spPr>
          <a:xfrm>
            <a:off x="438004" y="271582"/>
            <a:ext cx="7505409" cy="60324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3000" b="1" dirty="0">
                <a:latin typeface="Times New Roman" panose="02020603050405020304" pitchFamily="18" charset="0"/>
                <a:cs typeface="Times New Roman" panose="02020603050405020304" pitchFamily="18" charset="0"/>
              </a:rPr>
              <a:t>Identified Sustainable Goal Alignment:</a:t>
            </a:r>
          </a:p>
          <a:p>
            <a:endParaRPr lang="en-US" sz="2000" dirty="0">
              <a:solidFill>
                <a:srgbClr val="1A1A2E"/>
              </a:solidFill>
              <a:latin typeface="Times New Roman" panose="02020603050405020304" pitchFamily="18" charset="0"/>
              <a:ea typeface="Calibri" pitchFamily="34" charset="-122"/>
              <a:cs typeface="Times New Roman" panose="02020603050405020304" pitchFamily="18" charset="0"/>
            </a:endParaRPr>
          </a:p>
          <a:p>
            <a:r>
              <a:rPr lang="en-US" sz="2000" dirty="0">
                <a:solidFill>
                  <a:srgbClr val="1A1A2E"/>
                </a:solidFill>
                <a:latin typeface="Times New Roman" panose="02020603050405020304" pitchFamily="18" charset="0"/>
                <a:ea typeface="Calibri" pitchFamily="34" charset="-122"/>
                <a:cs typeface="Times New Roman" panose="02020603050405020304" pitchFamily="18" charset="0"/>
              </a:rPr>
              <a:t>SDG 3 — Good Health &amp; Well-being</a:t>
            </a:r>
            <a:endParaRPr lang="en-US" sz="2000" dirty="0">
              <a:latin typeface="Times New Roman" panose="02020603050405020304" pitchFamily="18" charset="0"/>
              <a:cs typeface="Times New Roman" panose="02020603050405020304" pitchFamily="18" charset="0"/>
            </a:endParaRPr>
          </a:p>
          <a:p>
            <a:r>
              <a:rPr lang="en-US" sz="2000" dirty="0">
                <a:solidFill>
                  <a:srgbClr val="1A1A2E"/>
                </a:solidFill>
                <a:latin typeface="Times New Roman" panose="02020603050405020304" pitchFamily="18" charset="0"/>
                <a:ea typeface="Calibri" pitchFamily="34" charset="-122"/>
                <a:cs typeface="Times New Roman" panose="02020603050405020304" pitchFamily="18" charset="0"/>
              </a:rPr>
              <a:t>SDG 9 — Industry, Innovation &amp; Infrastructure</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ea typeface="Calibri" pitchFamily="34" charset="-122"/>
                <a:cs typeface="Times New Roman" panose="02020603050405020304" pitchFamily="18" charset="0"/>
              </a:rPr>
              <a:t>Expected Outcomes :</a:t>
            </a:r>
          </a:p>
          <a:p>
            <a:endParaRPr lang="en-US" sz="2000" dirty="0">
              <a:latin typeface="Times New Roman" panose="02020603050405020304" pitchFamily="18" charset="0"/>
              <a:ea typeface="Calibri" pitchFamily="34" charset="-122"/>
              <a:cs typeface="Times New Roman" panose="02020603050405020304" pitchFamily="18" charset="0"/>
            </a:endParaRPr>
          </a:p>
          <a:p>
            <a:r>
              <a:rPr lang="en-US" sz="2000" dirty="0">
                <a:solidFill>
                  <a:srgbClr val="1A1A2E"/>
                </a:solidFill>
                <a:latin typeface="Times New Roman" panose="02020603050405020304" pitchFamily="18" charset="0"/>
                <a:ea typeface="Calibri" pitchFamily="34" charset="-122"/>
                <a:cs typeface="Times New Roman" panose="02020603050405020304" pitchFamily="18" charset="0"/>
              </a:rPr>
              <a:t>Journal(Scopus)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4" name="Picture 3"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6096000" y="1550200"/>
            <a:ext cx="5394071" cy="4323905"/>
          </a:xfrm>
          <a:prstGeom prst="rect">
            <a:avLst/>
          </a:prstGeom>
        </p:spPr>
      </p:pic>
    </p:spTree>
    <p:extLst>
      <p:ext uri="{BB962C8B-B14F-4D97-AF65-F5344CB8AC3E}">
        <p14:creationId xmlns:p14="http://schemas.microsoft.com/office/powerpoint/2010/main" val="3091406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36498" y="384154"/>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68E9598-8978-D81A-9CC5-B62B450998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960850"/>
            <a:ext cx="3750623" cy="5625935"/>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a:normAutofit/>
          </a:bodyPr>
          <a:lstStyle/>
          <a:p>
            <a:r>
              <a:rPr lang="en-IN" sz="1600" dirty="0">
                <a:latin typeface="Times New Roman" panose="02020603050405020304" pitchFamily="18" charset="0"/>
                <a:cs typeface="Times New Roman" panose="02020603050405020304" pitchFamily="18" charset="0"/>
              </a:rPr>
              <a:t>Authenticate the patient from the live camera and identify which registered patient is present; refuse unknown and ambiguous faces.</a:t>
            </a:r>
          </a:p>
          <a:p>
            <a:r>
              <a:rPr lang="en-IN" sz="1600" dirty="0">
                <a:latin typeface="Times New Roman" panose="02020603050405020304" pitchFamily="18" charset="0"/>
                <a:cs typeface="Times New Roman" panose="02020603050405020304" pitchFamily="18" charset="0"/>
              </a:rPr>
              <a:t>Execute a device command only after a recognised gesture is held continuously for 3.0 seconds of wall-clock time, and only once per hold.</a:t>
            </a:r>
          </a:p>
          <a:p>
            <a:r>
              <a:rPr lang="en-IN" sz="1600" dirty="0">
                <a:latin typeface="Times New Roman" panose="02020603050405020304" pitchFamily="18" charset="0"/>
                <a:cs typeface="Times New Roman" panose="02020603050405020304" pitchFamily="18" charset="0"/>
              </a:rPr>
              <a:t>Block every command when no registered patient is authenticated.</a:t>
            </a:r>
          </a:p>
          <a:p>
            <a:r>
              <a:rPr lang="en-IN" sz="1600" dirty="0">
                <a:latin typeface="Times New Roman" panose="02020603050405020304" pitchFamily="18" charset="0"/>
                <a:cs typeface="Times New Roman" panose="02020603050405020304" pitchFamily="18" charset="0"/>
              </a:rPr>
              <a:t>Generate a caregiver request after 2.0 seconds of stable gaze, and allow the same request to be raised again after returning to centre.</a:t>
            </a:r>
          </a:p>
          <a:p>
            <a:r>
              <a:rPr lang="en-IN" sz="1600" dirty="0">
                <a:latin typeface="Times New Roman" panose="02020603050405020304" pitchFamily="18" charset="0"/>
                <a:cs typeface="Times New Roman" panose="02020603050405020304" pitchFamily="18" charset="0"/>
              </a:rPr>
              <a:t>Raise a global emergency alert on a held closed fist, visible to the caregiver regardless of which patient they are viewing.</a:t>
            </a:r>
          </a:p>
          <a:p>
            <a:r>
              <a:rPr lang="en-IN" sz="1600" dirty="0">
                <a:latin typeface="Times New Roman" panose="02020603050405020304" pitchFamily="18" charset="0"/>
                <a:cs typeface="Times New Roman" panose="02020603050405020304" pitchFamily="18" charset="0"/>
              </a:rPr>
              <a:t>Acquire and assess ECG continuously, independently of the camera.</a:t>
            </a:r>
          </a:p>
          <a:p>
            <a:r>
              <a:rPr lang="en-IN" sz="1600" dirty="0">
                <a:latin typeface="Times New Roman" panose="02020603050405020304" pitchFamily="18" charset="0"/>
                <a:cs typeface="Times New Roman" panose="02020603050405020304" pitchFamily="18" charset="0"/>
              </a:rPr>
              <a:t>Show live camera, authentication state, device states, requests, patient state and ECG for a caregiver-selected patient among several.</a:t>
            </a:r>
          </a:p>
          <a:p>
            <a:r>
              <a:rPr lang="en-IN" sz="1600" dirty="0">
                <a:latin typeface="Times New Roman" panose="02020603050405020304" pitchFamily="18" charset="0"/>
                <a:cs typeface="Times New Roman" panose="02020603050405020304" pitchFamily="18" charset="0"/>
              </a:rPr>
              <a:t>Persist every authentication, gesture, gaze, request, device and emergency event with timestamp and patient identity.</a:t>
            </a:r>
          </a:p>
          <a:p>
            <a:r>
              <a:rPr lang="en-IN" sz="1600" dirty="0">
                <a:latin typeface="Times New Roman" panose="02020603050405020304" pitchFamily="18" charset="0"/>
                <a:cs typeface="Times New Roman" panose="02020603050405020304" pitchFamily="18" charset="0"/>
              </a:rPr>
              <a:t>Continue running when the ESP32, the camera or the ECG source is absent.</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p:txBody>
          <a:bodyPr>
            <a:normAutofit/>
          </a:bodyPr>
          <a:lstStyle/>
          <a:p>
            <a:r>
              <a:rPr lang="en-IN" sz="1400" dirty="0">
                <a:latin typeface="Times New Roman" panose="02020603050405020304" pitchFamily="18" charset="0"/>
                <a:cs typeface="Times New Roman" panose="02020603050405020304" pitchFamily="18" charset="0"/>
              </a:rPr>
              <a:t>1.  Face authentication — OpenCV LBPH over enrolled patients, with a distance threshold and a best-vs-runner-up margin so an unknown or ambiguous face is refused rather than assigned to the nearest patient.</a:t>
            </a:r>
          </a:p>
          <a:p>
            <a:r>
              <a:rPr lang="en-IN" sz="1400" dirty="0">
                <a:latin typeface="Times New Roman" panose="02020603050405020304" pitchFamily="18" charset="0"/>
                <a:cs typeface="Times New Roman" panose="02020603050405020304" pitchFamily="18" charset="0"/>
              </a:rPr>
              <a:t>2.  Gesture recognition — MediaPipe hand landmarks, geometric classifier (thumbs up / thumbs down / victory / open palm / closed fist), all normalised by palm length.</a:t>
            </a:r>
          </a:p>
          <a:p>
            <a:r>
              <a:rPr lang="en-IN" sz="1400" dirty="0">
                <a:latin typeface="Times New Roman" panose="02020603050405020304" pitchFamily="18" charset="0"/>
                <a:cs typeface="Times New Roman" panose="02020603050405020304" pitchFamily="18" charset="0"/>
              </a:rPr>
              <a:t>3.  Intent validation — elapsed-time 3-second hold, execute-once, require-release; authentication gate before any command.</a:t>
            </a:r>
          </a:p>
          <a:p>
            <a:r>
              <a:rPr lang="en-IN" sz="1400" dirty="0">
                <a:latin typeface="Times New Roman" panose="02020603050405020304" pitchFamily="18" charset="0"/>
                <a:cs typeface="Times New Roman" panose="02020603050405020304" pitchFamily="18" charset="0"/>
              </a:rPr>
              <a:t>4.  Gaze control — MediaPipe face and iris landmarks, LEFT / CENTER / RIGHT with a 2-second dwell and re-arm through centre.</a:t>
            </a:r>
          </a:p>
          <a:p>
            <a:r>
              <a:rPr lang="en-IN" sz="1400" dirty="0">
                <a:latin typeface="Times New Roman" panose="02020603050405020304" pitchFamily="18" charset="0"/>
                <a:cs typeface="Times New Roman" panose="02020603050405020304" pitchFamily="18" charset="0"/>
              </a:rPr>
              <a:t>5.  Command router and ESP32 interface — logical commands translated to the board's serial protocol; simulated backend for hardware-free testing.</a:t>
            </a:r>
          </a:p>
          <a:p>
            <a:r>
              <a:rPr lang="en-IN" sz="1400" dirty="0">
                <a:latin typeface="Times New Roman" panose="02020603050405020304" pitchFamily="18" charset="0"/>
                <a:cs typeface="Times New Roman" panose="02020603050405020304" pitchFamily="18" charset="0"/>
              </a:rPr>
              <a:t>6.  ECG pathway — source abstraction (simulated / file / AD8232 serial), acquisition thread, rolling buffer, signal-quality gate, analyzer hook.</a:t>
            </a:r>
          </a:p>
          <a:p>
            <a:r>
              <a:rPr lang="en-IN" sz="1400" dirty="0">
                <a:latin typeface="Times New Roman" panose="02020603050405020304" pitchFamily="18" charset="0"/>
                <a:cs typeface="Times New Roman" panose="02020603050405020304" pitchFamily="18" charset="0"/>
              </a:rPr>
              <a:t>7.  Caregiver dashboard — multi-patient selector, live MJPEG camera, global request board, global emergency alerts, device and ECG panels.</a:t>
            </a:r>
          </a:p>
          <a:p>
            <a:r>
              <a:rPr lang="en-IN" sz="1400" dirty="0">
                <a:latin typeface="Times New Roman" panose="02020603050405020304" pitchFamily="18" charset="0"/>
                <a:cs typeface="Times New Roman" panose="02020603050405020304" pitchFamily="18" charset="0"/>
              </a:rPr>
              <a:t>8.  Event logging — SQLite store shared by both pathways.</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p:txBody>
          <a:bodyPr>
            <a:normAutofit/>
          </a:bodyPr>
          <a:lstStyle/>
          <a:p>
            <a:r>
              <a:rPr lang="en-IN" sz="1400" dirty="0">
                <a:latin typeface="Times New Roman" panose="02020603050405020304" pitchFamily="18" charset="0"/>
                <a:cs typeface="Times New Roman" panose="02020603050405020304" pitchFamily="18" charset="0"/>
              </a:rPr>
              <a:t>Gesture hold (safety-critical) — execution requires 3.0 s of elapsed wall-clock time, verified FPS-independent at 45 and 60 FPS; a held gesture executes exactly once; releasing before 3 s cancels.</a:t>
            </a:r>
          </a:p>
          <a:p>
            <a:r>
              <a:rPr lang="en-IN" sz="1400" dirty="0">
                <a:latin typeface="Times New Roman" panose="02020603050405020304" pitchFamily="18" charset="0"/>
                <a:cs typeface="Times New Roman" panose="02020603050405020304" pitchFamily="18" charset="0"/>
              </a:rPr>
              <a:t>Closed-fist recognition — a real fist rests the thumb across the fingers, which the classifier read as thumbs-up. Separated using thumb-to-knuckle distance: measured 0.25–0.34 palm lengths for a fist against 0.73–2.06 for a thumbs-up. On 188 live frames the previous code was wrong 100% of the time; the corrected classifier is right 100% of the time.</a:t>
            </a:r>
          </a:p>
          <a:p>
            <a:r>
              <a:rPr lang="en-IN" sz="1400" dirty="0">
                <a:latin typeface="Times New Roman" panose="02020603050405020304" pitchFamily="18" charset="0"/>
                <a:cs typeface="Times New Roman" panose="02020603050405020304" pitchFamily="18" charset="0"/>
              </a:rPr>
              <a:t>ESP32 hardware — verified on the physical board over COM3 at 115200 baud: 13 of 13 commands acknowledged, fan, both lights and the emergency buzzer toggling as specified, with host and board device state agreeing.</a:t>
            </a:r>
          </a:p>
          <a:p>
            <a:r>
              <a:rPr lang="en-IN" sz="1400" dirty="0">
                <a:latin typeface="Times New Roman" panose="02020603050405020304" pitchFamily="18" charset="0"/>
                <a:cs typeface="Times New Roman" panose="02020603050405020304" pitchFamily="18" charset="0"/>
              </a:rPr>
              <a:t>ECG pathway — measured 249.9 Hz against a configured 250 Hz with 0 dropped samples over 18,179 samples; signal quality reported as VALID; analysis correctly reported NOT AVAILABLE (no trained model).</a:t>
            </a:r>
          </a:p>
          <a:p>
            <a:r>
              <a:rPr lang="en-IN" sz="1400" dirty="0">
                <a:latin typeface="Times New Roman" panose="02020603050405020304" pitchFamily="18" charset="0"/>
                <a:cs typeface="Times New Roman" panose="02020603050405020304" pitchFamily="18" charset="0"/>
              </a:rPr>
              <a:t>Pathway independence — ECG continues with the vision pipeline stopped, and gesture control continues with the ECG source failing.</a:t>
            </a:r>
          </a:p>
          <a:p>
            <a:r>
              <a:rPr lang="en-IN" sz="1400" dirty="0">
                <a:latin typeface="Times New Roman" panose="02020603050405020304" pitchFamily="18" charset="0"/>
                <a:cs typeface="Times New Roman" panose="02020603050405020304" pitchFamily="18" charset="0"/>
              </a:rPr>
              <a:t>Authentication — calibrated on the live camera (314 frames): the enrolled patient measures 58.8–79.1 distance while a different enrolled patient measures 44–57. The ranges overlap, so enrolment quality, not the threshold, is the limiting factor — recorded as future work.</a:t>
            </a: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13</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18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a:normAutofit/>
          </a:bodyPr>
          <a:lstStyle/>
          <a:p>
            <a:r>
              <a:rPr lang="en-IN" sz="1600" dirty="0">
                <a:latin typeface="Times New Roman" panose="02020603050405020304" pitchFamily="18" charset="0"/>
                <a:cs typeface="Times New Roman" panose="02020603050405020304" pitchFamily="18" charset="0"/>
              </a:rPr>
              <a:t>A complete hands-free assistive control system has been built and verified end to end on real hardware: a registered patient is authenticated from the camera, a gesture held for 3 seconds drives the fan, lights or emergency alert through the ESP32, and a 2-second gaze dwell raises a caregiver request on a multi-patient dashboard.</a:t>
            </a:r>
          </a:p>
          <a:p>
            <a:r>
              <a:rPr lang="en-IN" sz="1600" dirty="0">
                <a:latin typeface="Times New Roman" panose="02020603050405020304" pitchFamily="18" charset="0"/>
                <a:cs typeface="Times New Roman" panose="02020603050405020304" pitchFamily="18" charset="0"/>
              </a:rPr>
              <a:t>ECG acquisition and signal-quality assessment run independently of the camera, and the analysis layer is deliberately left as an extension point — no cardiac finding is claimed without a validated model.</a:t>
            </a:r>
          </a:p>
          <a:p>
            <a:r>
              <a:rPr lang="en-IN" sz="1600" dirty="0">
                <a:latin typeface="Times New Roman" panose="02020603050405020304" pitchFamily="18" charset="0"/>
                <a:cs typeface="Times New Roman" panose="02020603050405020304" pitchFamily="18" charset="0"/>
              </a:rPr>
              <a:t>Safety behaviour is measured rather than asserted: the 3-second hold is elapsed-time and FPS-independent, unauthenticated users execute nothing, and a failed hardware write never reports a device as changed.</a:t>
            </a:r>
          </a:p>
          <a:p>
            <a:r>
              <a:rPr lang="en-IN" sz="1600" dirty="0">
                <a:latin typeface="Times New Roman" panose="02020603050405020304" pitchFamily="18" charset="0"/>
                <a:cs typeface="Times New Roman" panose="02020603050405020304" pitchFamily="18" charset="0"/>
              </a:rPr>
              <a:t>Remaining work — per-patient continual learning (EWC and replay) with forgetting measured against a fixed-model baseline; explainability evaluated on localization, fidelity and stability; improved face enrolment; and EEG integration once suitable hardware is available.</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5592" y="1442399"/>
            <a:ext cx="10515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[1] "Lightweight and interpretable edge intelligence AI with intrusion detection for trustworthy cardiac arrhythmia in medical IoT," Scientific Reports,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10.1038/s41598-026-43578-6.</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[2] M. Goettling, A. Hammer, H. Malberg, and M. Schmidt, "</a:t>
            </a:r>
            <a:r>
              <a:rPr lang="en-IN" sz="1200" dirty="0" err="1">
                <a:latin typeface="Times New Roman" panose="02020603050405020304" pitchFamily="18" charset="0"/>
                <a:cs typeface="Times New Roman" panose="02020603050405020304" pitchFamily="18" charset="0"/>
              </a:rPr>
              <a:t>xECGArch</a:t>
            </a:r>
            <a:r>
              <a:rPr lang="en-IN" sz="1200" dirty="0">
                <a:latin typeface="Times New Roman" panose="02020603050405020304" pitchFamily="18" charset="0"/>
                <a:cs typeface="Times New Roman" panose="02020603050405020304" pitchFamily="18" charset="0"/>
              </a:rPr>
              <a:t>: a trustworthy deep learning architecture for interpretable ECG analysis considering short-term and long-term features," Scientific Reports, vol. 14, art. no. 13122, 2024,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10.1038/s41598-024-63656-x.</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[3] T. T. </a:t>
            </a:r>
            <a:r>
              <a:rPr lang="en-IN" sz="1200" dirty="0" err="1">
                <a:latin typeface="Times New Roman" panose="02020603050405020304" pitchFamily="18" charset="0"/>
                <a:cs typeface="Times New Roman" panose="02020603050405020304" pitchFamily="18" charset="0"/>
              </a:rPr>
              <a:t>Showrav</a:t>
            </a:r>
            <a:r>
              <a:rPr lang="en-IN" sz="1200" dirty="0">
                <a:latin typeface="Times New Roman" panose="02020603050405020304" pitchFamily="18" charset="0"/>
                <a:cs typeface="Times New Roman" panose="02020603050405020304" pitchFamily="18" charset="0"/>
              </a:rPr>
              <a:t>, S. I. Lincoln, and M. K. Hasan, "An explainable artificial intelligence framework for trustworthy arrhythmia detection from heart rhythm data," Healthcare Analytics,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https://doi.org/10.1016/j.health.2026.100455.</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[4] "</a:t>
            </a:r>
            <a:r>
              <a:rPr lang="en-IN" sz="1200" dirty="0" err="1">
                <a:latin typeface="Times New Roman" panose="02020603050405020304" pitchFamily="18" charset="0"/>
                <a:cs typeface="Times New Roman" panose="02020603050405020304" pitchFamily="18" charset="0"/>
              </a:rPr>
              <a:t>ProtoECGNet</a:t>
            </a:r>
            <a:r>
              <a:rPr lang="en-IN" sz="1200" dirty="0">
                <a:latin typeface="Times New Roman" panose="02020603050405020304" pitchFamily="18" charset="0"/>
                <a:cs typeface="Times New Roman" panose="02020603050405020304" pitchFamily="18" charset="0"/>
              </a:rPr>
              <a:t>: Case-based interpretable deep learning for multi-label ECG classification with contrastive learning," </a:t>
            </a:r>
            <a:r>
              <a:rPr lang="en-IN" sz="1200" dirty="0" err="1">
                <a:latin typeface="Times New Roman" panose="02020603050405020304" pitchFamily="18" charset="0"/>
                <a:cs typeface="Times New Roman" panose="02020603050405020304" pitchFamily="18" charset="0"/>
              </a:rPr>
              <a:t>arXiv</a:t>
            </a:r>
            <a:r>
              <a:rPr lang="en-IN" sz="1200" dirty="0">
                <a:latin typeface="Times New Roman" panose="02020603050405020304" pitchFamily="18" charset="0"/>
                <a:cs typeface="Times New Roman" panose="02020603050405020304" pitchFamily="18" charset="0"/>
              </a:rPr>
              <a:t> preprint arXiv:2504.08713, 2025.</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[5] "Exploration of an intrinsically explainable self-attention based model for prototype generation on single-channel EEG sleep stage classification," Scientific Reports, vol. 14, 2024,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10.1038/s41598-024-79139-y.</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[6] "</a:t>
            </a:r>
            <a:r>
              <a:rPr lang="en-IN" sz="1200" dirty="0" err="1">
                <a:latin typeface="Times New Roman" panose="02020603050405020304" pitchFamily="18" charset="0"/>
                <a:cs typeface="Times New Roman" panose="02020603050405020304" pitchFamily="18" charset="0"/>
              </a:rPr>
              <a:t>LightSeizureNet</a:t>
            </a:r>
            <a:r>
              <a:rPr lang="en-IN" sz="1200" dirty="0">
                <a:latin typeface="Times New Roman" panose="02020603050405020304" pitchFamily="18" charset="0"/>
                <a:cs typeface="Times New Roman" panose="02020603050405020304" pitchFamily="18" charset="0"/>
              </a:rPr>
              <a:t>: A lightweight deep learning model for real-time epileptic seizure detection," IEEE Journal of Biomedical and Health Informatics, 2022, PMID: 36417737.</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[7] "Automated stress detection with explainable-AI transformer </a:t>
            </a:r>
            <a:r>
              <a:rPr lang="en-IN" sz="1200" dirty="0" err="1">
                <a:latin typeface="Times New Roman" panose="02020603050405020304" pitchFamily="18" charset="0"/>
                <a:cs typeface="Times New Roman" panose="02020603050405020304" pitchFamily="18" charset="0"/>
              </a:rPr>
              <a:t>TabNet</a:t>
            </a:r>
            <a:r>
              <a:rPr lang="en-IN" sz="1200" dirty="0">
                <a:latin typeface="Times New Roman" panose="02020603050405020304" pitchFamily="18" charset="0"/>
                <a:cs typeface="Times New Roman" panose="02020603050405020304" pitchFamily="18" charset="0"/>
              </a:rPr>
              <a:t> technique and physiological signals," Biomedical Signal Processing and Control, 2025.</a:t>
            </a:r>
          </a:p>
          <a:p>
            <a:pPr marL="0" indent="0" defTabSz="740663">
              <a:lnSpc>
                <a:spcPct val="100000"/>
              </a:lnSpc>
              <a:spcBef>
                <a:spcPts val="0"/>
              </a:spcBef>
              <a:buSzTx/>
              <a:buNone/>
              <a:defRPr sz="400">
                <a:solidFill>
                  <a:srgbClr val="202020"/>
                </a:solidFill>
                <a:latin typeface="Times New Roman"/>
                <a:ea typeface="Times New Roman"/>
                <a:cs typeface="Times New Roman"/>
                <a:sym typeface="Times New Roman"/>
              </a:defRPr>
            </a:pPr>
            <a:endParaRPr lang="en-IN" sz="1200" dirty="0">
              <a:latin typeface="Times New Roman" panose="02020603050405020304" pitchFamily="18" charset="0"/>
              <a:cs typeface="Times New Roman" panose="02020603050405020304" pitchFamily="18" charset="0"/>
            </a:endParaRPr>
          </a:p>
          <a:p>
            <a:pPr marL="0" indent="0" defTabSz="740663">
              <a:lnSpc>
                <a:spcPct val="100000"/>
              </a:lnSpc>
              <a:spcBef>
                <a:spcPts val="0"/>
              </a:spcBef>
              <a:buSzTx/>
              <a:buNone/>
              <a:defRPr sz="972">
                <a:solidFill>
                  <a:srgbClr val="202020"/>
                </a:solidFill>
                <a:latin typeface="Times New Roman"/>
                <a:ea typeface="Times New Roman"/>
                <a:cs typeface="Times New Roman"/>
                <a:sym typeface="Times New Roman"/>
              </a:defRPr>
            </a:pPr>
            <a:r>
              <a:rPr lang="en-IN" sz="1200" dirty="0">
                <a:latin typeface="Times New Roman" panose="02020603050405020304" pitchFamily="18" charset="0"/>
                <a:cs typeface="Times New Roman" panose="02020603050405020304" pitchFamily="18" charset="0"/>
              </a:rPr>
              <a:t>[8] V. </a:t>
            </a:r>
            <a:r>
              <a:rPr lang="en-IN" sz="1200" dirty="0" err="1">
                <a:latin typeface="Times New Roman" panose="02020603050405020304" pitchFamily="18" charset="0"/>
                <a:cs typeface="Times New Roman" panose="02020603050405020304" pitchFamily="18" charset="0"/>
              </a:rPr>
              <a:t>Jahmunah</a:t>
            </a:r>
            <a:r>
              <a:rPr lang="en-IN" sz="1200" dirty="0">
                <a:latin typeface="Times New Roman" panose="02020603050405020304" pitchFamily="18" charset="0"/>
                <a:cs typeface="Times New Roman" panose="02020603050405020304" pitchFamily="18" charset="0"/>
              </a:rPr>
              <a:t>, E. Y. K. Ng, R.-S. Tan, S. L. Oh, and U. R. Acharya, "Explainable detection of myocardial infarction using deep learning models with Grad-CAM technique on ECG signals," Computers in Biology and Medicine, vol. 146, art. no. 105550, 2022,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10.1016/j.compbiomed.2022.105550.</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02-09-2026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15</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2831</Words>
  <Application>Microsoft Office PowerPoint</Application>
  <PresentationFormat>Widescreen</PresentationFormat>
  <Paragraphs>211</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Programme B.Tech Course Code – BCSE497J   Adaptive Per-Patient Gesture and Gaze Control with Continuous Cardiac and Neural Monitoring</vt:lpstr>
      <vt:lpstr>Approval Mail From Guide</vt:lpstr>
      <vt:lpstr>Aim</vt:lpstr>
      <vt:lpstr>Abstract</vt:lpstr>
      <vt:lpstr>Literature Review</vt:lpstr>
      <vt:lpstr>PowerPoint Presentation</vt:lpstr>
      <vt:lpstr>Research Gap</vt:lpstr>
      <vt:lpstr>Objectives</vt:lpstr>
      <vt:lpstr>PowerPoint Presentation</vt:lpstr>
      <vt:lpstr>Framework/Architecture/Block Diagram</vt:lpstr>
      <vt:lpstr>Functional Requirements</vt:lpstr>
      <vt:lpstr>Modules</vt:lpstr>
      <vt:lpstr>Experiments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AADHITHYA A</cp:lastModifiedBy>
  <cp:revision>6</cp:revision>
  <dcterms:created xsi:type="dcterms:W3CDTF">2026-07-14T06:00:41Z</dcterms:created>
  <dcterms:modified xsi:type="dcterms:W3CDTF">2026-09-02T05:05:44Z</dcterms:modified>
</cp:coreProperties>
</file>