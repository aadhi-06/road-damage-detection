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Faster R-CNN</c:v>
                </c:pt>
              </c:strCache>
            </c:strRef>
          </c:tx>
          <c:spPr>
            <a:solidFill>
              <a:srgbClr val="2B2D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6B6F7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Source
(in-domain)</c:v>
                  </c:pt>
                  <c:pt idx="1">
                    <c:v>United
States</c:v>
                  </c:pt>
                  <c:pt idx="2">
                    <c:v>Czech</c:v>
                  </c:pt>
                  <c:pt idx="3">
                    <c:v>China
(MotorBike)</c:v>
                  </c:pt>
                  <c:pt idx="4">
                    <c:v>Norway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0.5068</c:v>
                </c:pt>
                <c:pt idx="1">
                  <c:v>0.3549</c:v>
                </c:pt>
                <c:pt idx="2">
                  <c:v>0.1419</c:v>
                </c:pt>
                <c:pt idx="3">
                  <c:v>0.2698</c:v>
                </c:pt>
                <c:pt idx="4">
                  <c:v>0.0329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YOLOv8n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6B6F7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Source
(in-domain)</c:v>
                  </c:pt>
                  <c:pt idx="1">
                    <c:v>United
States</c:v>
                  </c:pt>
                  <c:pt idx="2">
                    <c:v>Czech</c:v>
                  </c:pt>
                  <c:pt idx="3">
                    <c:v>China
(MotorBike)</c:v>
                  </c:pt>
                  <c:pt idx="4">
                    <c:v>Norway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0.494</c:v>
                </c:pt>
                <c:pt idx="1">
                  <c:v>0.3804</c:v>
                </c:pt>
                <c:pt idx="2">
                  <c:v>0.1394</c:v>
                </c:pt>
                <c:pt idx="3">
                  <c:v>0.2102</c:v>
                </c:pt>
                <c:pt idx="4">
                  <c:v>0.0587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YOLO26n</c:v>
                </c:pt>
              </c:strCache>
            </c:strRef>
          </c:tx>
          <c:spPr>
            <a:solidFill>
              <a:srgbClr val="5B8A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6B6F7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Source
(in-domain)</c:v>
                  </c:pt>
                  <c:pt idx="1">
                    <c:v>United
States</c:v>
                  </c:pt>
                  <c:pt idx="2">
                    <c:v>Czech</c:v>
                  </c:pt>
                  <c:pt idx="3">
                    <c:v>China
(MotorBike)</c:v>
                  </c:pt>
                  <c:pt idx="4">
                    <c:v>Norway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0.4859</c:v>
                </c:pt>
                <c:pt idx="1">
                  <c:v>0.4013</c:v>
                </c:pt>
                <c:pt idx="2">
                  <c:v>0.1438</c:v>
                </c:pt>
                <c:pt idx="3">
                  <c:v>0.1952</c:v>
                </c:pt>
                <c:pt idx="4">
                  <c:v>0.0554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6B6F7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D1F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F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F76"/>
                    </a:solidFill>
                    <a:latin typeface="Arial"/>
                  </a:rPr>
                  <a:t>mAP@0.5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F7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DAMAGE DETECTION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889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Multi-Class Road Damage Detection &amp; Cross-Regional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Generalization Analysis Using Deep Neural Networks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BCSE332L — Deep Learning — Course-Based Design Project — VIT Vellore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937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 </a:t>
            </a:r>
            <a:pPr indent="0" marL="0">
              <a:buNone/>
            </a:pPr>
            <a:r>
              <a:rPr lang="en-US" sz="1250" dirty="0">
                <a:solidFill>
                  <a:srgbClr val="C7C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al., “DA-RDD: Toward Domain Adaptive Road Damage Detection Across Different Countries,” IEEE T-ITS, 2023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Question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Project Motivation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2011680"/>
          </a:xfrm>
          <a:prstGeom prst="rect">
            <a:avLst>
              <a:gd name="adj" fmla="val 3636"/>
            </a:avLst>
          </a:prstGeom>
          <a:solidFill>
            <a:srgbClr val="2B2D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Does a road-damage detector trained on some countries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generalize to countries it has never seen — and how much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does accuracy degrade, per country, per architecture?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5257800" cy="2331720"/>
          </a:xfrm>
          <a:prstGeom prst="rect">
            <a:avLst>
              <a:gd name="adj" fmla="val 2353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114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8056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road inspection is only deployable if a model trained in one region still works in another.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3886200"/>
            <a:ext cx="5257800" cy="2331720"/>
          </a:xfrm>
          <a:prstGeom prst="rect">
            <a:avLst>
              <a:gd name="adj" fmla="val 2353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411480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GAP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48056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DA-RDD assumes the gap exists and jumps to fixing it with adversarial adaptation. This project measures the gap first, per country, per architecture — the step DA-RDD skips.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Base Paper — DA-RDD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Lin, Tian, Duan, Zhou, Zhao, Cao — IEEE Trans. Intelligent Transportation Systems, 2023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DA-RDD DOES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916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DOES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257800" cy="886968"/>
          </a:xfrm>
          <a:prstGeom prst="rect">
            <a:avLst>
              <a:gd name="adj" fmla="val 5155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40280"/>
            <a:ext cx="4800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cross-country domain gap exists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57800" cy="886968"/>
          </a:xfrm>
          <a:prstGeom prst="rect">
            <a:avLst>
              <a:gd name="adj" fmla="val 5155"/>
            </a:avLst>
          </a:prstGeom>
          <a:solidFill>
            <a:srgbClr val="2B2D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240280"/>
            <a:ext cx="4800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gap first — zero-shot, no adaptation, no target-country data touched during training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257800" cy="886968"/>
          </a:xfrm>
          <a:prstGeom prst="rect">
            <a:avLst>
              <a:gd name="adj" fmla="val 5155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291840"/>
            <a:ext cx="4800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Faster R-CNN backbone (RPN + RoI losses)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257800" cy="886968"/>
          </a:xfrm>
          <a:prstGeom prst="rect">
            <a:avLst>
              <a:gd name="adj" fmla="val 5155"/>
            </a:avLst>
          </a:prstGeom>
          <a:solidFill>
            <a:srgbClr val="2B2D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291840"/>
            <a:ext cx="4800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DA-RDD's own Faster R-CNN backbone AS a baseline (no adaptation machinery)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5257800" cy="886968"/>
          </a:xfrm>
          <a:prstGeom prst="rect">
            <a:avLst>
              <a:gd name="adj" fmla="val 5155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343400"/>
            <a:ext cx="4800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gap via adversarial domain adaptation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4251960"/>
            <a:ext cx="5257800" cy="886968"/>
          </a:xfrm>
          <a:prstGeom prst="rect">
            <a:avLst>
              <a:gd name="adj" fmla="val 5155"/>
            </a:avLst>
          </a:prstGeom>
          <a:solidFill>
            <a:srgbClr val="2B2D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343400"/>
            <a:ext cx="4800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second, architecturally different baseline — YOLOv8 (one-stage)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5257800" cy="886968"/>
          </a:xfrm>
          <a:prstGeom prst="rect">
            <a:avLst>
              <a:gd name="adj" fmla="val 5155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394960"/>
            <a:ext cx="4800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RDD2020 (this dataset's predecessor)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5303520"/>
            <a:ext cx="5257800" cy="886968"/>
          </a:xfrm>
          <a:prstGeom prst="rect">
            <a:avLst>
              <a:gd name="adj" fmla="val 5155"/>
            </a:avLst>
          </a:prstGeom>
          <a:solidFill>
            <a:srgbClr val="2B2D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92240" y="5394960"/>
            <a:ext cx="4800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the gap per country, evaluated on RDD2022, never averaged away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Dataset — RDD2022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Multi-national road-damage image dataset — verified directly against the downloaded files, not assumed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38,385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images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64992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subsets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089904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089904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classes used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14816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814816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files / parse errors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CLASSES (CRDDC-2022 standard set)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54680"/>
          <a:ext cx="51206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931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Longitudinal crack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Transverse crack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Alligator crack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Pothole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263640" y="31546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codes present in the raw data (D43, D44, D50, “Repair”, “Block crack”, …)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filtered out and counted — not silently dropped.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4160520"/>
            <a:ext cx="5257800" cy="1188720"/>
          </a:xfrm>
          <a:prstGeom prst="rect">
            <a:avLst>
              <a:gd name="adj" fmla="val 4615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42793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9,656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47731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boxes dropped from SOURCE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alone, logged for the report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Country Split — Source vs. Target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seed = 42 — TARGET countries are never touched during training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2926080"/>
          </a:xfrm>
          <a:prstGeom prst="rect">
            <a:avLst>
              <a:gd name="adj" fmla="val 1875"/>
            </a:avLst>
          </a:prstGeom>
          <a:solidFill>
            <a:srgbClr val="2B2D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 —  trained 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India + Japan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697480"/>
          <a:ext cx="47548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12,748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(in-domain eval)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447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1F2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914400" y="4041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7C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18,212 images → split 70 / 15 / 15 at image level, per-country then merged (keeps the India:Japan ratio consistent across every split)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257800" cy="2926080"/>
          </a:xfrm>
          <a:prstGeom prst="rect">
            <a:avLst>
              <a:gd name="adj" fmla="val 1875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3796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—  zero-shot only, never trained on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4884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Czech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2,829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Norway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8,161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high-res, masked vehicles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4,805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— Drone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2,401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aerial capture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 — MotorBike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1,977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vehicle-mounted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53796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two capture modalities are kept SEPARATE — not merged — since drone vs. vehicle-mounted is a genuinely different domain.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raw dataset directly — confirm per-country image/annotation counts. Zero orphaned files, zero XML parse failures found.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64992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5603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VOC XML (pixel boxes) → YOLO normalized format. Coordinates clamped to [0,1]; 0 boxes needed clamping — clean data.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089904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089904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89904" y="25603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70/15/15 SOURCE split at image level, seed 42, done per-country then merged so ratios stay consistent.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814816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814816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814816" y="256032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converted labels rendered back onto their images and visually inspected — including Norway's non-square resolution. No conversion bugs found.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Paradigms, Three Trained Models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upgrade path — one-stage vs. two-stage trade accuracy for speed differently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3383280"/>
          </a:xfrm>
          <a:prstGeom prst="rect">
            <a:avLst>
              <a:gd name="adj" fmla="val 1892"/>
            </a:avLst>
          </a:prstGeom>
          <a:solidFill>
            <a:srgbClr val="2B2D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737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Faster R-CNN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1762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C7C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baseline — reproduces DA-RDD's own backbone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127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127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+ FPN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511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35112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8953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C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8953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41.37 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5257800" cy="3383280"/>
          </a:xfrm>
          <a:prstGeom prst="rect">
            <a:avLst>
              <a:gd name="adj" fmla="val 1892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1737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D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YOLOv8n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1762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baseline — CRDDC-2022's winning paradigm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743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1272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31272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CSPDarknet-style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5112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41080" y="35112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8953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38953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3.01 M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10881360" cy="1097280"/>
          </a:xfrm>
          <a:prstGeom prst="rect">
            <a:avLst>
              <a:gd name="adj" fmla="val 5000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2B2D3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 YOLO26n 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trained model — a newer one-stage detector (2.51 M params, the lightest of the three). Same paradigm as YOLOv8n, same SOURCE split / seed 42 / 100-epoch schedule; batch 8 the only change. Adds a second one-stage line, so “which one-stage design generalizes best” becomes answerable.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Training Configuration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seed = 42 everywhere — all three trained on Google Colab (free T4 GPU)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5257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80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(AdamW)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(mosaic, HSV, flips)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63640" y="15544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20240"/>
          <a:ext cx="5257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80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(1× schedule)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SGD, lr 0.005, mom. 0.9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schedule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×0.1 step decay @ epoch 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480560"/>
            <a:ext cx="10881360" cy="914400"/>
          </a:xfrm>
          <a:prstGeom prst="rect">
            <a:avLst>
              <a:gd name="adj" fmla="val 6000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YOLO26n: 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to the YOLOv8n column above — 100 epochs, 640px, optimizer auto, patience 20, augmentation on — with one deliberate change: batch 8 (vs. 16), for memory headroom on the free T4. Trained in 10 resumable 10-epoch chunks.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— In-Domain Baseline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test split (India + Japan), 2,732 images — all three models scored by one shared metric implementation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508760"/>
                <a:gridCol w="1508760"/>
                <a:gridCol w="1508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YOLO26n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R-CNN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mAP@0.5:0.95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41.37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1600200"/>
            <a:ext cx="4251960" cy="4206240"/>
          </a:xfrm>
          <a:prstGeom prst="rect">
            <a:avLst>
              <a:gd name="adj" fmla="val 1304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16368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516368" y="214884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higher recall, far lower precision — finds more damage but floods with false positives.
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vs. YOLO26n: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in-domain (mAP 0.494 vs 0.486, F1 0.526 vs 0.525) — YOLO26n gets there with 17% fewer parameters.
</a:t>
            </a:r>
            <a:pPr indent="0" marL="0">
              <a:lnSpc>
                <a:spcPct val="122000"/>
              </a:lnSpc>
              <a:buNone/>
            </a:pPr>
            <a:r>
              <a:rPr lang="en-US" sz="11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“wins” outright — as the one-stage vs. two-stage literature predicts.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840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— Cross-Country Generalization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mAP@0.5 per country, all three models — the headline experiment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7635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234440"/>
            <a:ext cx="3291840" cy="3977640"/>
          </a:xfrm>
          <a:prstGeom prst="rect">
            <a:avLst>
              <a:gd name="adj" fmla="val 1667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49056" y="1399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CHART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449056" y="1719072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one-stage winner.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YOLO26n vs YOLOv8n is a wash: YOLO26n better on US (0.40 vs 0.38), worse on China-MB (0.20 vs 0.21), a hair apart elsewhere.
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leads on China-MB (subsample). Norway is the floor for all three — its high-res, vehicle-masked images.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(Drone): YOLOv8n only, mAP@0.5 = 0.211 (evaluated before this country was dropped; not run for the other two). Faster R-CNN's Norway / US / China (MotorBike) figures are a 1,500-image seeded subsample — preliminary, time-boxed. YOLOv8n and YOLO26n ran the full target sets.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Demo 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tool: drop in a road photo, get back labeled detections — built and verified locally</a:t>
            </a:r>
            <a:endParaRPr lang="en-US" sz="1250" dirty="0"/>
          </a:p>
        </p:txBody>
      </p:sp>
      <p:pic>
        <p:nvPicPr>
          <p:cNvPr id="5" name="Image 0" descr="reports/figures/demo_detection_sa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035040" cy="4526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61081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detection output — 3 potholes correctly located and labeled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86600" y="1600200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0866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18928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and drop, or click to choose, a JPG/PNG road photo.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86600" y="2624328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08660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25786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29169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YOLOv8n checkpoint runs inference in the browser session.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086600" y="3648456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08660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635240" y="36027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635240" y="39410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are drawn on the image; each is labeled with damage type and confidence.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086600" y="4672584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08660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635240" y="46268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635240" y="49651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lists every detection alongside the annotated image.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086600" y="5623560"/>
            <a:ext cx="4480560" cy="502920"/>
          </a:xfrm>
          <a:prstGeom prst="rect">
            <a:avLst>
              <a:gd name="adj" fmla="val 9091"/>
            </a:avLst>
          </a:prstGeom>
          <a:solidFill>
            <a:srgbClr val="F5F6F7"/>
          </a:solidFill>
          <a:ln w="12700">
            <a:solidFill>
              <a:srgbClr val="E2E4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69480" y="5669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the model's already-measured offline metrics as context — never a live-computed accuracy for the uploaded photo.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601200" y="6510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RDD2022 — DA-RDD baseline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430000" y="228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F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Status &amp; Next Steps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54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1–2: Data verified, converted, split — complete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128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2128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3a: Three models trained, reviewed — Faster R-CNN,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YOLOv8n, YOLO26n — complete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712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8712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Cross-country eval — YOLOv8n + YOLO26n full-scale,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(preliminary subsample on 3 countries)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5295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52958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Reporting tables &amp; figures — auto-generated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8795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1879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Demo dashboard — built, verified locally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18872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581912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15544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Faster R-CNN's preliminary countries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(Norway, US, China-MotorBike) at full scale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224028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22128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Phase 3b — coordinate attention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(module already built &amp; verified, not yet trained)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2898648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28712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Phase 5 hyperparameter ablations at full scale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557016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352958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the demo dashboard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4215384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41879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D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final report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5806440"/>
            <a:ext cx="10881360" cy="594360"/>
          </a:xfrm>
          <a:prstGeom prst="rect">
            <a:avLst>
              <a:gd name="adj" fmla="val 7692"/>
            </a:avLst>
          </a:prstGeom>
          <a:solidFill>
            <a:srgbClr val="2B2D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4400" y="5806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research report + trained models + cross-country analysis + hosted Tier-1 demo dashboard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Road Damage Detection Project</dc:creator>
  <cp:lastModifiedBy>Road Damage Detection Project</cp:lastModifiedBy>
  <cp:revision>1</cp:revision>
  <dcterms:created xsi:type="dcterms:W3CDTF">2026-09-10T16:47:41Z</dcterms:created>
  <dcterms:modified xsi:type="dcterms:W3CDTF">2026-09-10T16:47:41Z</dcterms:modified>
</cp:coreProperties>
</file>